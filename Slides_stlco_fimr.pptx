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Nunito SemiBold"/>
      <p:regular r:id="rId29"/>
      <p:bold r:id="rId30"/>
      <p:italic r:id="rId31"/>
      <p:boldItalic r:id="rId32"/>
    </p:embeddedFont>
    <p:embeddedFont>
      <p:font typeface="Nunito"/>
      <p:regular r:id="rId33"/>
      <p:bold r:id="rId34"/>
      <p:italic r:id="rId35"/>
      <p:boldItalic r:id="rId36"/>
    </p:embeddedFont>
    <p:embeddedFont>
      <p:font typeface="Nunito ExtraBold"/>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SemiBold-italic.fntdata"/><Relationship Id="rId30" Type="http://schemas.openxmlformats.org/officeDocument/2006/relationships/font" Target="fonts/NunitoSemiBold-bold.fntdata"/><Relationship Id="rId11" Type="http://schemas.openxmlformats.org/officeDocument/2006/relationships/slide" Target="slides/slide6.xml"/><Relationship Id="rId33" Type="http://schemas.openxmlformats.org/officeDocument/2006/relationships/font" Target="fonts/Nunito-regular.fntdata"/><Relationship Id="rId10" Type="http://schemas.openxmlformats.org/officeDocument/2006/relationships/slide" Target="slides/slide5.xml"/><Relationship Id="rId32" Type="http://schemas.openxmlformats.org/officeDocument/2006/relationships/font" Target="fonts/NunitoSemiBold-boldItalic.fntdata"/><Relationship Id="rId13" Type="http://schemas.openxmlformats.org/officeDocument/2006/relationships/slide" Target="slides/slide8.xml"/><Relationship Id="rId35" Type="http://schemas.openxmlformats.org/officeDocument/2006/relationships/font" Target="fonts/Nunito-italic.fntdata"/><Relationship Id="rId12" Type="http://schemas.openxmlformats.org/officeDocument/2006/relationships/slide" Target="slides/slide7.xml"/><Relationship Id="rId34" Type="http://schemas.openxmlformats.org/officeDocument/2006/relationships/font" Target="fonts/Nunito-bold.fntdata"/><Relationship Id="rId15" Type="http://schemas.openxmlformats.org/officeDocument/2006/relationships/slide" Target="slides/slide10.xml"/><Relationship Id="rId37" Type="http://schemas.openxmlformats.org/officeDocument/2006/relationships/font" Target="fonts/NunitoExtraBold-bold.fntdata"/><Relationship Id="rId14" Type="http://schemas.openxmlformats.org/officeDocument/2006/relationships/slide" Target="slides/slide9.xml"/><Relationship Id="rId36" Type="http://schemas.openxmlformats.org/officeDocument/2006/relationships/font" Target="fonts/Nunito-boldItalic.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NunitoExtra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ee408e4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aee408e4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ee408e4a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ee408e4a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t is a profound loss for families and a critical indicator of maternal and child health in our community.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ee408e4a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ee408e4a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Fetal death is the loss of a baby before or during delivery after 20 weeks of pregnancy</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ee408e4a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ee408e4a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ee408e4a4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ee408e4a4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ee408e4a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ee408e4a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ee408e4a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ee408e4a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ee408e4a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ee408e4a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ee408e4a4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ee408e4a4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ee408e4a4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ee408e4a4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ee408e4a4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ee408e4a4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must act collaboratively to address the root causes of these disparities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ee408e4a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ee408e4a4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ee408e4a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ee408e4a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ee408e4a4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ee408e4a4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ee408e4a4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ee408e4a4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ee408e4a4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ee408e4a4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ee408e4a4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ee408e4a4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ee408e4a4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ee408e4a4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ee408e4a4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ee408e4a4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ee408e4a4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ee408e4a4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ee408e4a4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ee408e4a4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ee408e4a4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ee408e4a4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ee408e4a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ee408e4a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idx="4294967295" type="title"/>
          </p:nvPr>
        </p:nvSpPr>
        <p:spPr>
          <a:xfrm>
            <a:off x="352100" y="390525"/>
            <a:ext cx="8520600" cy="2046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700">
                <a:solidFill>
                  <a:srgbClr val="2B3640"/>
                </a:solidFill>
                <a:latin typeface="Nunito"/>
                <a:ea typeface="Nunito"/>
                <a:cs typeface="Nunito"/>
                <a:sym typeface="Nunito"/>
              </a:rPr>
              <a:t>Every Beginning Matters:</a:t>
            </a:r>
            <a:endParaRPr b="1" sz="3700">
              <a:solidFill>
                <a:srgbClr val="2B3640"/>
              </a:solidFill>
              <a:latin typeface="Nunito"/>
              <a:ea typeface="Nunito"/>
              <a:cs typeface="Nunito"/>
              <a:sym typeface="Nunito"/>
            </a:endParaRPr>
          </a:p>
          <a:p>
            <a:pPr indent="0" lvl="0" marL="0" rtl="0" algn="ctr">
              <a:spcBef>
                <a:spcPts val="0"/>
              </a:spcBef>
              <a:spcAft>
                <a:spcPts val="0"/>
              </a:spcAft>
              <a:buNone/>
            </a:pPr>
            <a:r>
              <a:rPr b="1" lang="en" sz="3700">
                <a:solidFill>
                  <a:srgbClr val="2B3640"/>
                </a:solidFill>
                <a:latin typeface="Nunito"/>
                <a:ea typeface="Nunito"/>
                <a:cs typeface="Nunito"/>
                <a:sym typeface="Nunito"/>
              </a:rPr>
              <a:t>Fetal Mortality in St. Louis County, 2019-2023</a:t>
            </a:r>
            <a:endParaRPr b="1" sz="3700">
              <a:solidFill>
                <a:srgbClr val="2B3640"/>
              </a:solidFill>
              <a:latin typeface="Nunito"/>
              <a:ea typeface="Nunito"/>
              <a:cs typeface="Nunito"/>
              <a:sym typeface="Nunito"/>
            </a:endParaRPr>
          </a:p>
        </p:txBody>
      </p:sp>
      <p:sp>
        <p:nvSpPr>
          <p:cNvPr id="55" name="Google Shape;55;p13"/>
          <p:cNvSpPr txBox="1"/>
          <p:nvPr>
            <p:ph idx="1" type="subTitle"/>
          </p:nvPr>
        </p:nvSpPr>
        <p:spPr>
          <a:xfrm>
            <a:off x="311700" y="28022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1018"/>
              <a:buNone/>
            </a:pPr>
            <a:r>
              <a:rPr lang="en" sz="1590"/>
              <a:t>Presented to Community Action Team (CAT) Meeting</a:t>
            </a:r>
            <a:endParaRPr sz="1590"/>
          </a:p>
        </p:txBody>
      </p:sp>
      <p:cxnSp>
        <p:nvCxnSpPr>
          <p:cNvPr id="56" name="Google Shape;56;p13"/>
          <p:cNvCxnSpPr/>
          <p:nvPr/>
        </p:nvCxnSpPr>
        <p:spPr>
          <a:xfrm flipH="1" rot="10800000">
            <a:off x="962850" y="2679750"/>
            <a:ext cx="7218300" cy="6900"/>
          </a:xfrm>
          <a:prstGeom prst="straightConnector1">
            <a:avLst/>
          </a:prstGeom>
          <a:noFill/>
          <a:ln cap="flat" cmpd="sng" w="9525">
            <a:solidFill>
              <a:schemeClr val="dk2"/>
            </a:solidFill>
            <a:prstDash val="solid"/>
            <a:round/>
            <a:headEnd len="med" w="med" type="none"/>
            <a:tailEnd len="med" w="med" type="none"/>
          </a:ln>
        </p:spPr>
      </p:cxnSp>
      <p:pic>
        <p:nvPicPr>
          <p:cNvPr id="57" name="Google Shape;57;p13"/>
          <p:cNvPicPr preferRelativeResize="0"/>
          <p:nvPr/>
        </p:nvPicPr>
        <p:blipFill>
          <a:blip r:embed="rId4">
            <a:alphaModFix/>
          </a:blip>
          <a:stretch>
            <a:fillRect/>
          </a:stretch>
        </p:blipFill>
        <p:spPr>
          <a:xfrm>
            <a:off x="4387350" y="5356925"/>
            <a:ext cx="575200" cy="535975"/>
          </a:xfrm>
          <a:prstGeom prst="rect">
            <a:avLst/>
          </a:prstGeom>
          <a:noFill/>
          <a:ln>
            <a:noFill/>
          </a:ln>
        </p:spPr>
      </p:pic>
      <p:pic>
        <p:nvPicPr>
          <p:cNvPr id="58" name="Google Shape;58;p13"/>
          <p:cNvPicPr preferRelativeResize="0"/>
          <p:nvPr/>
        </p:nvPicPr>
        <p:blipFill>
          <a:blip r:embed="rId5">
            <a:alphaModFix/>
          </a:blip>
          <a:stretch>
            <a:fillRect/>
          </a:stretch>
        </p:blipFill>
        <p:spPr>
          <a:xfrm>
            <a:off x="3428675" y="3333425"/>
            <a:ext cx="2286650" cy="664800"/>
          </a:xfrm>
          <a:prstGeom prst="rect">
            <a:avLst/>
          </a:prstGeom>
          <a:noFill/>
          <a:ln>
            <a:noFill/>
          </a:ln>
        </p:spPr>
      </p:pic>
      <p:sp>
        <p:nvSpPr>
          <p:cNvPr id="59" name="Google Shape;59;p13"/>
          <p:cNvSpPr txBox="1"/>
          <p:nvPr/>
        </p:nvSpPr>
        <p:spPr>
          <a:xfrm>
            <a:off x="7517700" y="4620300"/>
            <a:ext cx="162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B3640"/>
                </a:solidFill>
                <a:latin typeface="Nunito"/>
                <a:ea typeface="Nunito"/>
                <a:cs typeface="Nunito"/>
                <a:sym typeface="Nunito"/>
              </a:rPr>
              <a:t>Michael Royce Tan</a:t>
            </a:r>
            <a:br>
              <a:rPr lang="en" sz="1100">
                <a:solidFill>
                  <a:srgbClr val="2B3640"/>
                </a:solidFill>
                <a:latin typeface="Nunito"/>
                <a:ea typeface="Nunito"/>
                <a:cs typeface="Nunito"/>
                <a:sym typeface="Nunito"/>
              </a:rPr>
            </a:br>
            <a:r>
              <a:rPr lang="en" sz="1100">
                <a:solidFill>
                  <a:srgbClr val="2B3640"/>
                </a:solidFill>
                <a:latin typeface="Nunito"/>
                <a:ea typeface="Nunito"/>
                <a:cs typeface="Nunito"/>
                <a:sym typeface="Nunito"/>
              </a:rPr>
              <a:t>December 9, 2025</a:t>
            </a:r>
            <a:endParaRPr sz="1100">
              <a:solidFill>
                <a:srgbClr val="2B3640"/>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5EE"/>
        </a:solidFill>
      </p:bgPr>
    </p:bg>
    <p:spTree>
      <p:nvGrpSpPr>
        <p:cNvPr id="63" name="Shape 63"/>
        <p:cNvGrpSpPr/>
        <p:nvPr/>
      </p:nvGrpSpPr>
      <p:grpSpPr>
        <a:xfrm>
          <a:off x="0" y="0"/>
          <a:ext cx="0" cy="0"/>
          <a:chOff x="0" y="0"/>
          <a:chExt cx="0" cy="0"/>
        </a:xfrm>
      </p:grpSpPr>
      <p:sp>
        <p:nvSpPr>
          <p:cNvPr id="64" name="Google Shape;64;p14"/>
          <p:cNvSpPr txBox="1"/>
          <p:nvPr>
            <p:ph idx="4294967295"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700">
                <a:solidFill>
                  <a:srgbClr val="2B3640"/>
                </a:solidFill>
                <a:latin typeface="Nunito"/>
                <a:ea typeface="Nunito"/>
                <a:cs typeface="Nunito"/>
                <a:sym typeface="Nunito"/>
              </a:rPr>
              <a:t>Why This Matters</a:t>
            </a:r>
            <a:endParaRPr b="1" sz="3700">
              <a:solidFill>
                <a:srgbClr val="2B3640"/>
              </a:solidFill>
              <a:latin typeface="Nunito"/>
              <a:ea typeface="Nunito"/>
              <a:cs typeface="Nunito"/>
              <a:sym typeface="Nunito"/>
            </a:endParaRPr>
          </a:p>
        </p:txBody>
      </p:sp>
      <p:cxnSp>
        <p:nvCxnSpPr>
          <p:cNvPr id="65" name="Google Shape;65;p14"/>
          <p:cNvCxnSpPr/>
          <p:nvPr/>
        </p:nvCxnSpPr>
        <p:spPr>
          <a:xfrm flipH="1" rot="10800000">
            <a:off x="610500" y="5886300"/>
            <a:ext cx="7218300" cy="6900"/>
          </a:xfrm>
          <a:prstGeom prst="straightConnector1">
            <a:avLst/>
          </a:prstGeom>
          <a:noFill/>
          <a:ln cap="flat" cmpd="sng" w="9525">
            <a:solidFill>
              <a:schemeClr val="dk2"/>
            </a:solidFill>
            <a:prstDash val="solid"/>
            <a:round/>
            <a:headEnd len="med" w="med" type="none"/>
            <a:tailEnd len="med" w="med" type="none"/>
          </a:ln>
        </p:spPr>
      </p:cxnSp>
      <p:sp>
        <p:nvSpPr>
          <p:cNvPr id="66" name="Google Shape;66;p14"/>
          <p:cNvSpPr txBox="1"/>
          <p:nvPr/>
        </p:nvSpPr>
        <p:spPr>
          <a:xfrm>
            <a:off x="867750" y="1409500"/>
            <a:ext cx="7408500" cy="153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solidFill>
                  <a:srgbClr val="2B3640"/>
                </a:solidFill>
                <a:latin typeface="Nunito SemiBold"/>
                <a:ea typeface="Nunito SemiBold"/>
                <a:cs typeface="Nunito SemiBold"/>
                <a:sym typeface="Nunito SemiBold"/>
              </a:rPr>
              <a:t>The health of our mothers and babies is a mirror reflecting the health of our entire community. Fetal mortality is more than a statistic; it's a measure of our collective well-being and a call care for every family.</a:t>
            </a:r>
            <a:endParaRPr sz="2200">
              <a:solidFill>
                <a:srgbClr val="2B3640"/>
              </a:solidFill>
              <a:latin typeface="Nunito SemiBold"/>
              <a:ea typeface="Nunito SemiBold"/>
              <a:cs typeface="Nunito SemiBold"/>
              <a:sym typeface="Nunito SemiBold"/>
            </a:endParaRPr>
          </a:p>
        </p:txBody>
      </p:sp>
      <p:pic>
        <p:nvPicPr>
          <p:cNvPr id="67" name="Google Shape;67;p14"/>
          <p:cNvPicPr preferRelativeResize="0"/>
          <p:nvPr/>
        </p:nvPicPr>
        <p:blipFill>
          <a:blip r:embed="rId3">
            <a:alphaModFix/>
          </a:blip>
          <a:stretch>
            <a:fillRect/>
          </a:stretch>
        </p:blipFill>
        <p:spPr>
          <a:xfrm>
            <a:off x="1579150" y="3243885"/>
            <a:ext cx="869750" cy="990890"/>
          </a:xfrm>
          <a:prstGeom prst="rect">
            <a:avLst/>
          </a:prstGeom>
          <a:noFill/>
          <a:ln>
            <a:noFill/>
          </a:ln>
        </p:spPr>
      </p:pic>
      <p:pic>
        <p:nvPicPr>
          <p:cNvPr id="68" name="Google Shape;68;p14"/>
          <p:cNvPicPr preferRelativeResize="0"/>
          <p:nvPr/>
        </p:nvPicPr>
        <p:blipFill>
          <a:blip r:embed="rId4">
            <a:alphaModFix/>
          </a:blip>
          <a:stretch>
            <a:fillRect/>
          </a:stretch>
        </p:blipFill>
        <p:spPr>
          <a:xfrm>
            <a:off x="4048764" y="3243875"/>
            <a:ext cx="1136236" cy="990900"/>
          </a:xfrm>
          <a:prstGeom prst="rect">
            <a:avLst/>
          </a:prstGeom>
          <a:noFill/>
          <a:ln>
            <a:noFill/>
          </a:ln>
        </p:spPr>
      </p:pic>
      <p:pic>
        <p:nvPicPr>
          <p:cNvPr id="69" name="Google Shape;69;p14"/>
          <p:cNvPicPr preferRelativeResize="0"/>
          <p:nvPr/>
        </p:nvPicPr>
        <p:blipFill>
          <a:blip r:embed="rId5">
            <a:alphaModFix/>
          </a:blip>
          <a:stretch>
            <a:fillRect/>
          </a:stretch>
        </p:blipFill>
        <p:spPr>
          <a:xfrm>
            <a:off x="6710793" y="3281988"/>
            <a:ext cx="1042607" cy="914675"/>
          </a:xfrm>
          <a:prstGeom prst="rect">
            <a:avLst/>
          </a:prstGeom>
          <a:noFill/>
          <a:ln>
            <a:noFill/>
          </a:ln>
        </p:spPr>
      </p:pic>
      <p:sp>
        <p:nvSpPr>
          <p:cNvPr id="70" name="Google Shape;70;p14"/>
          <p:cNvSpPr txBox="1"/>
          <p:nvPr/>
        </p:nvSpPr>
        <p:spPr>
          <a:xfrm>
            <a:off x="828200" y="4289175"/>
            <a:ext cx="2302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2B3640"/>
                </a:solidFill>
                <a:latin typeface="Nunito"/>
                <a:ea typeface="Nunito"/>
                <a:cs typeface="Nunito"/>
                <a:sym typeface="Nunito"/>
              </a:rPr>
              <a:t>A sensitive topic we will</a:t>
            </a:r>
            <a:endParaRPr>
              <a:solidFill>
                <a:srgbClr val="2B3640"/>
              </a:solidFill>
              <a:latin typeface="Nunito"/>
              <a:ea typeface="Nunito"/>
              <a:cs typeface="Nunito"/>
              <a:sym typeface="Nunito"/>
            </a:endParaRPr>
          </a:p>
          <a:p>
            <a:pPr indent="0" lvl="0" marL="0" rtl="0" algn="ctr">
              <a:spcBef>
                <a:spcPts val="0"/>
              </a:spcBef>
              <a:spcAft>
                <a:spcPts val="0"/>
              </a:spcAft>
              <a:buNone/>
            </a:pPr>
            <a:r>
              <a:rPr lang="en">
                <a:solidFill>
                  <a:srgbClr val="2B3640"/>
                </a:solidFill>
                <a:latin typeface="Nunito"/>
                <a:ea typeface="Nunito"/>
                <a:cs typeface="Nunito"/>
                <a:sym typeface="Nunito"/>
              </a:rPr>
              <a:t>approach with care.</a:t>
            </a:r>
            <a:endParaRPr>
              <a:solidFill>
                <a:srgbClr val="2B3640"/>
              </a:solidFill>
              <a:latin typeface="Nunito"/>
              <a:ea typeface="Nunito"/>
              <a:cs typeface="Nunito"/>
              <a:sym typeface="Nunito"/>
            </a:endParaRPr>
          </a:p>
        </p:txBody>
      </p:sp>
      <p:sp>
        <p:nvSpPr>
          <p:cNvPr id="71" name="Google Shape;71;p14"/>
          <p:cNvSpPr txBox="1"/>
          <p:nvPr/>
        </p:nvSpPr>
        <p:spPr>
          <a:xfrm>
            <a:off x="3116875" y="4234775"/>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2B3640"/>
                </a:solidFill>
                <a:latin typeface="Nunito"/>
                <a:ea typeface="Nunito"/>
                <a:cs typeface="Nunito"/>
                <a:sym typeface="Nunito"/>
              </a:rPr>
              <a:t>A shared challenge that</a:t>
            </a:r>
            <a:endParaRPr>
              <a:solidFill>
                <a:srgbClr val="2B3640"/>
              </a:solidFill>
              <a:latin typeface="Nunito"/>
              <a:ea typeface="Nunito"/>
              <a:cs typeface="Nunito"/>
              <a:sym typeface="Nunito"/>
            </a:endParaRPr>
          </a:p>
          <a:p>
            <a:pPr indent="0" lvl="0" marL="0" rtl="0" algn="ctr">
              <a:spcBef>
                <a:spcPts val="0"/>
              </a:spcBef>
              <a:spcAft>
                <a:spcPts val="0"/>
              </a:spcAft>
              <a:buNone/>
            </a:pPr>
            <a:r>
              <a:rPr lang="en">
                <a:solidFill>
                  <a:srgbClr val="2B3640"/>
                </a:solidFill>
                <a:latin typeface="Nunito"/>
                <a:ea typeface="Nunito"/>
                <a:cs typeface="Nunito"/>
                <a:sym typeface="Nunito"/>
              </a:rPr>
              <a:t>requires a shared response</a:t>
            </a:r>
            <a:endParaRPr>
              <a:solidFill>
                <a:srgbClr val="2B3640"/>
              </a:solidFill>
              <a:latin typeface="Nunito"/>
              <a:ea typeface="Nunito"/>
              <a:cs typeface="Nunito"/>
              <a:sym typeface="Nunito"/>
            </a:endParaRPr>
          </a:p>
        </p:txBody>
      </p:sp>
      <p:sp>
        <p:nvSpPr>
          <p:cNvPr id="72" name="Google Shape;72;p14"/>
          <p:cNvSpPr txBox="1"/>
          <p:nvPr/>
        </p:nvSpPr>
        <p:spPr>
          <a:xfrm>
            <a:off x="5845650" y="4234775"/>
            <a:ext cx="2772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2B3640"/>
                </a:solidFill>
                <a:latin typeface="Nunito"/>
                <a:ea typeface="Nunito"/>
                <a:cs typeface="Nunito"/>
                <a:sym typeface="Nunito"/>
              </a:rPr>
              <a:t>A story told through data,</a:t>
            </a:r>
            <a:endParaRPr>
              <a:solidFill>
                <a:srgbClr val="2B3640"/>
              </a:solidFill>
              <a:latin typeface="Nunito"/>
              <a:ea typeface="Nunito"/>
              <a:cs typeface="Nunito"/>
              <a:sym typeface="Nunito"/>
            </a:endParaRPr>
          </a:p>
          <a:p>
            <a:pPr indent="0" lvl="0" marL="0" rtl="0" algn="ctr">
              <a:spcBef>
                <a:spcPts val="0"/>
              </a:spcBef>
              <a:spcAft>
                <a:spcPts val="0"/>
              </a:spcAft>
              <a:buNone/>
            </a:pPr>
            <a:r>
              <a:rPr lang="en">
                <a:solidFill>
                  <a:srgbClr val="2B3640"/>
                </a:solidFill>
                <a:latin typeface="Nunito"/>
                <a:ea typeface="Nunito"/>
                <a:cs typeface="Nunito"/>
                <a:sym typeface="Nunito"/>
              </a:rPr>
              <a:t>leading to action</a:t>
            </a:r>
            <a:endParaRPr>
              <a:solidFill>
                <a:srgbClr val="2B364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76" name="Shape 76"/>
        <p:cNvGrpSpPr/>
        <p:nvPr/>
      </p:nvGrpSpPr>
      <p:grpSpPr>
        <a:xfrm>
          <a:off x="0" y="0"/>
          <a:ext cx="0" cy="0"/>
          <a:chOff x="0" y="0"/>
          <a:chExt cx="0" cy="0"/>
        </a:xfrm>
      </p:grpSpPr>
      <p:sp>
        <p:nvSpPr>
          <p:cNvPr id="77" name="Google Shape;77;p15"/>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700">
                <a:solidFill>
                  <a:srgbClr val="2B3640"/>
                </a:solidFill>
                <a:latin typeface="Nunito"/>
                <a:ea typeface="Nunito"/>
                <a:cs typeface="Nunito"/>
                <a:sym typeface="Nunito"/>
              </a:rPr>
              <a:t>Our Approach</a:t>
            </a:r>
            <a:endParaRPr b="1" sz="3700">
              <a:solidFill>
                <a:srgbClr val="2B3640"/>
              </a:solidFill>
              <a:latin typeface="Nunito"/>
              <a:ea typeface="Nunito"/>
              <a:cs typeface="Nunito"/>
              <a:sym typeface="Nunito"/>
            </a:endParaRPr>
          </a:p>
        </p:txBody>
      </p:sp>
      <p:sp>
        <p:nvSpPr>
          <p:cNvPr id="78" name="Google Shape;78;p15"/>
          <p:cNvSpPr txBox="1"/>
          <p:nvPr/>
        </p:nvSpPr>
        <p:spPr>
          <a:xfrm>
            <a:off x="2602500" y="14067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B3640"/>
                </a:solidFill>
                <a:latin typeface="Nunito"/>
                <a:ea typeface="Nunito"/>
                <a:cs typeface="Nunito"/>
                <a:sym typeface="Nunito"/>
              </a:rPr>
              <a:t>Case Definition</a:t>
            </a:r>
            <a:endParaRPr b="1">
              <a:solidFill>
                <a:srgbClr val="2B3640"/>
              </a:solidFill>
              <a:latin typeface="Nunito"/>
              <a:ea typeface="Nunito"/>
              <a:cs typeface="Nunito"/>
              <a:sym typeface="Nunito"/>
            </a:endParaRPr>
          </a:p>
        </p:txBody>
      </p:sp>
      <p:pic>
        <p:nvPicPr>
          <p:cNvPr id="79" name="Google Shape;79;p15"/>
          <p:cNvPicPr preferRelativeResize="0"/>
          <p:nvPr/>
        </p:nvPicPr>
        <p:blipFill>
          <a:blip r:embed="rId3">
            <a:alphaModFix/>
          </a:blip>
          <a:stretch>
            <a:fillRect/>
          </a:stretch>
        </p:blipFill>
        <p:spPr>
          <a:xfrm>
            <a:off x="1411062" y="1376899"/>
            <a:ext cx="758101" cy="847950"/>
          </a:xfrm>
          <a:prstGeom prst="rect">
            <a:avLst/>
          </a:prstGeom>
          <a:noFill/>
          <a:ln>
            <a:noFill/>
          </a:ln>
        </p:spPr>
      </p:pic>
      <p:pic>
        <p:nvPicPr>
          <p:cNvPr id="80" name="Google Shape;80;p15"/>
          <p:cNvPicPr preferRelativeResize="0"/>
          <p:nvPr/>
        </p:nvPicPr>
        <p:blipFill>
          <a:blip r:embed="rId4">
            <a:alphaModFix/>
          </a:blip>
          <a:stretch>
            <a:fillRect/>
          </a:stretch>
        </p:blipFill>
        <p:spPr>
          <a:xfrm>
            <a:off x="1411038" y="2548525"/>
            <a:ext cx="824075" cy="847950"/>
          </a:xfrm>
          <a:prstGeom prst="rect">
            <a:avLst/>
          </a:prstGeom>
          <a:noFill/>
          <a:ln>
            <a:noFill/>
          </a:ln>
        </p:spPr>
      </p:pic>
      <p:pic>
        <p:nvPicPr>
          <p:cNvPr id="81" name="Google Shape;81;p15"/>
          <p:cNvPicPr preferRelativeResize="0"/>
          <p:nvPr/>
        </p:nvPicPr>
        <p:blipFill>
          <a:blip r:embed="rId5">
            <a:alphaModFix/>
          </a:blip>
          <a:stretch>
            <a:fillRect/>
          </a:stretch>
        </p:blipFill>
        <p:spPr>
          <a:xfrm>
            <a:off x="1411050" y="3596100"/>
            <a:ext cx="958075" cy="982344"/>
          </a:xfrm>
          <a:prstGeom prst="rect">
            <a:avLst/>
          </a:prstGeom>
          <a:noFill/>
          <a:ln>
            <a:noFill/>
          </a:ln>
        </p:spPr>
      </p:pic>
      <p:sp>
        <p:nvSpPr>
          <p:cNvPr id="82" name="Google Shape;82;p15"/>
          <p:cNvSpPr txBox="1"/>
          <p:nvPr/>
        </p:nvSpPr>
        <p:spPr>
          <a:xfrm>
            <a:off x="2602500" y="1703525"/>
            <a:ext cx="430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B3640"/>
                </a:solidFill>
                <a:latin typeface="Nunito"/>
                <a:ea typeface="Nunito"/>
                <a:cs typeface="Nunito"/>
                <a:sym typeface="Nunito"/>
              </a:rPr>
              <a:t>A fetal death is the loss of a pregnancy at 20 weeks of gestation or more.</a:t>
            </a:r>
            <a:endParaRPr>
              <a:solidFill>
                <a:srgbClr val="2B3640"/>
              </a:solidFill>
              <a:latin typeface="Nunito"/>
              <a:ea typeface="Nunito"/>
              <a:cs typeface="Nunito"/>
              <a:sym typeface="Nunito"/>
            </a:endParaRPr>
          </a:p>
        </p:txBody>
      </p:sp>
      <p:sp>
        <p:nvSpPr>
          <p:cNvPr id="83" name="Google Shape;83;p15"/>
          <p:cNvSpPr txBox="1"/>
          <p:nvPr/>
        </p:nvSpPr>
        <p:spPr>
          <a:xfrm>
            <a:off x="2602500" y="25162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B3640"/>
                </a:solidFill>
                <a:latin typeface="Nunito"/>
                <a:ea typeface="Nunito"/>
                <a:cs typeface="Nunito"/>
                <a:sym typeface="Nunito"/>
              </a:rPr>
              <a:t>Data Source</a:t>
            </a:r>
            <a:endParaRPr b="1">
              <a:solidFill>
                <a:srgbClr val="2B3640"/>
              </a:solidFill>
              <a:latin typeface="Nunito"/>
              <a:ea typeface="Nunito"/>
              <a:cs typeface="Nunito"/>
              <a:sym typeface="Nunito"/>
            </a:endParaRPr>
          </a:p>
        </p:txBody>
      </p:sp>
      <p:sp>
        <p:nvSpPr>
          <p:cNvPr id="84" name="Google Shape;84;p15"/>
          <p:cNvSpPr txBox="1"/>
          <p:nvPr/>
        </p:nvSpPr>
        <p:spPr>
          <a:xfrm>
            <a:off x="2602500" y="2813100"/>
            <a:ext cx="4302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2B3640"/>
                </a:solidFill>
                <a:latin typeface="Nunito"/>
                <a:ea typeface="Nunito"/>
                <a:cs typeface="Nunito"/>
                <a:sym typeface="Nunito"/>
              </a:rPr>
              <a:t>St. Louis County birth and fetal death records from 2019 to 2023</a:t>
            </a:r>
            <a:endParaRPr>
              <a:solidFill>
                <a:srgbClr val="2B3640"/>
              </a:solidFill>
              <a:latin typeface="Nunito"/>
              <a:ea typeface="Nunito"/>
              <a:cs typeface="Nunito"/>
              <a:sym typeface="Nunito"/>
            </a:endParaRPr>
          </a:p>
        </p:txBody>
      </p:sp>
      <p:sp>
        <p:nvSpPr>
          <p:cNvPr id="85" name="Google Shape;85;p15"/>
          <p:cNvSpPr txBox="1"/>
          <p:nvPr/>
        </p:nvSpPr>
        <p:spPr>
          <a:xfrm>
            <a:off x="2602500" y="3538325"/>
            <a:ext cx="373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B3640"/>
                </a:solidFill>
                <a:latin typeface="Nunito"/>
                <a:ea typeface="Nunito"/>
                <a:cs typeface="Nunito"/>
                <a:sym typeface="Nunito"/>
              </a:rPr>
              <a:t>What is a 95% Confidence Interval?</a:t>
            </a:r>
            <a:endParaRPr b="1">
              <a:solidFill>
                <a:srgbClr val="2B3640"/>
              </a:solidFill>
              <a:latin typeface="Nunito"/>
              <a:ea typeface="Nunito"/>
              <a:cs typeface="Nunito"/>
              <a:sym typeface="Nunito"/>
            </a:endParaRPr>
          </a:p>
        </p:txBody>
      </p:sp>
      <p:sp>
        <p:nvSpPr>
          <p:cNvPr id="86" name="Google Shape;86;p15"/>
          <p:cNvSpPr txBox="1"/>
          <p:nvPr/>
        </p:nvSpPr>
        <p:spPr>
          <a:xfrm>
            <a:off x="2602500" y="3835150"/>
            <a:ext cx="5554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rgbClr val="2B3640"/>
                </a:solidFill>
                <a:latin typeface="Nunito"/>
                <a:ea typeface="Nunito"/>
                <a:cs typeface="Nunito"/>
                <a:sym typeface="Nunito"/>
              </a:rPr>
              <a:t>A measure of reliability. The shaded areas on our graphs show the range where we are 95% sure the true rate lies. Wider ranges mean less certainty, usually because of smaller numbers of events.</a:t>
            </a:r>
            <a:endParaRPr>
              <a:solidFill>
                <a:srgbClr val="2B3640"/>
              </a:solidFill>
              <a:latin typeface="Nunito"/>
              <a:ea typeface="Nunito"/>
              <a:cs typeface="Nunito"/>
              <a:sym typeface="Nunito"/>
            </a:endParaRPr>
          </a:p>
          <a:p>
            <a:pPr indent="0" lvl="0" marL="0" rtl="0" algn="l">
              <a:spcBef>
                <a:spcPts val="0"/>
              </a:spcBef>
              <a:spcAft>
                <a:spcPts val="0"/>
              </a:spcAft>
              <a:buNone/>
            </a:pPr>
            <a:r>
              <a:t/>
            </a:r>
            <a:endParaRPr>
              <a:solidFill>
                <a:srgbClr val="2B364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90" name="Shape 90"/>
        <p:cNvGrpSpPr/>
        <p:nvPr/>
      </p:nvGrpSpPr>
      <p:grpSpPr>
        <a:xfrm>
          <a:off x="0" y="0"/>
          <a:ext cx="0" cy="0"/>
          <a:chOff x="0" y="0"/>
          <a:chExt cx="0" cy="0"/>
        </a:xfrm>
      </p:grpSpPr>
      <p:sp>
        <p:nvSpPr>
          <p:cNvPr id="91" name="Google Shape;91;p16"/>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B3640"/>
                </a:solidFill>
                <a:latin typeface="Nunito"/>
                <a:ea typeface="Nunito"/>
                <a:cs typeface="Nunito"/>
                <a:sym typeface="Nunito"/>
              </a:rPr>
              <a:t>The Big Picture: Overall Fetal Death is Trending Downward</a:t>
            </a:r>
            <a:endParaRPr b="1" sz="3300">
              <a:solidFill>
                <a:srgbClr val="2B3640"/>
              </a:solidFill>
              <a:latin typeface="Nunito"/>
              <a:ea typeface="Nunito"/>
              <a:cs typeface="Nunito"/>
              <a:sym typeface="Nunito"/>
            </a:endParaRPr>
          </a:p>
        </p:txBody>
      </p:sp>
      <p:pic>
        <p:nvPicPr>
          <p:cNvPr id="92" name="Google Shape;92;p16"/>
          <p:cNvPicPr preferRelativeResize="0"/>
          <p:nvPr/>
        </p:nvPicPr>
        <p:blipFill>
          <a:blip r:embed="rId3">
            <a:alphaModFix/>
          </a:blip>
          <a:stretch>
            <a:fillRect/>
          </a:stretch>
        </p:blipFill>
        <p:spPr>
          <a:xfrm>
            <a:off x="1723750" y="1524025"/>
            <a:ext cx="5555725" cy="3434450"/>
          </a:xfrm>
          <a:prstGeom prst="rect">
            <a:avLst/>
          </a:prstGeom>
          <a:noFill/>
          <a:ln>
            <a:noFill/>
          </a:ln>
        </p:spPr>
      </p:pic>
      <p:sp>
        <p:nvSpPr>
          <p:cNvPr id="93" name="Google Shape;93;p16"/>
          <p:cNvSpPr txBox="1"/>
          <p:nvPr/>
        </p:nvSpPr>
        <p:spPr>
          <a:xfrm>
            <a:off x="2511575" y="3521575"/>
            <a:ext cx="2531700" cy="831300"/>
          </a:xfrm>
          <a:prstGeom prst="rect">
            <a:avLst/>
          </a:prstGeom>
          <a:solidFill>
            <a:srgbClr val="F8F5E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SemiBold"/>
                <a:ea typeface="Nunito SemiBold"/>
                <a:cs typeface="Nunito SemiBold"/>
                <a:sym typeface="Nunito SemiBold"/>
              </a:rPr>
              <a:t>The rate has decreased </a:t>
            </a:r>
            <a:endParaRPr>
              <a:latin typeface="Nunito SemiBold"/>
              <a:ea typeface="Nunito SemiBold"/>
              <a:cs typeface="Nunito SemiBold"/>
              <a:sym typeface="Nunito SemiBold"/>
            </a:endParaRPr>
          </a:p>
          <a:p>
            <a:pPr indent="0" lvl="0" marL="0" rtl="0" algn="l">
              <a:spcBef>
                <a:spcPts val="0"/>
              </a:spcBef>
              <a:spcAft>
                <a:spcPts val="0"/>
              </a:spcAft>
              <a:buNone/>
            </a:pPr>
            <a:r>
              <a:rPr lang="en">
                <a:latin typeface="Nunito SemiBold"/>
                <a:ea typeface="Nunito SemiBold"/>
                <a:cs typeface="Nunito SemiBold"/>
                <a:sym typeface="Nunito SemiBold"/>
              </a:rPr>
              <a:t>from 6.05 per 1,000 in 2019 </a:t>
            </a:r>
            <a:endParaRPr>
              <a:latin typeface="Nunito SemiBold"/>
              <a:ea typeface="Nunito SemiBold"/>
              <a:cs typeface="Nunito SemiBold"/>
              <a:sym typeface="Nunito SemiBold"/>
            </a:endParaRPr>
          </a:p>
          <a:p>
            <a:pPr indent="0" lvl="0" marL="0" rtl="0" algn="l">
              <a:spcBef>
                <a:spcPts val="0"/>
              </a:spcBef>
              <a:spcAft>
                <a:spcPts val="0"/>
              </a:spcAft>
              <a:buNone/>
            </a:pPr>
            <a:r>
              <a:rPr lang="en">
                <a:latin typeface="Nunito SemiBold"/>
                <a:ea typeface="Nunito SemiBold"/>
                <a:cs typeface="Nunito SemiBold"/>
                <a:sym typeface="Nunito SemiBold"/>
              </a:rPr>
              <a:t>to 4.35 in 2023.</a:t>
            </a:r>
            <a:endParaRPr>
              <a:latin typeface="Nunito SemiBold"/>
              <a:ea typeface="Nunito SemiBold"/>
              <a:cs typeface="Nunito SemiBold"/>
              <a:sym typeface="Nunito SemiBold"/>
            </a:endParaRPr>
          </a:p>
        </p:txBody>
      </p:sp>
      <p:cxnSp>
        <p:nvCxnSpPr>
          <p:cNvPr id="94" name="Google Shape;94;p16"/>
          <p:cNvCxnSpPr/>
          <p:nvPr/>
        </p:nvCxnSpPr>
        <p:spPr>
          <a:xfrm>
            <a:off x="2447575" y="2740375"/>
            <a:ext cx="4343100" cy="781200"/>
          </a:xfrm>
          <a:prstGeom prst="straightConnector1">
            <a:avLst/>
          </a:prstGeom>
          <a:noFill/>
          <a:ln cap="flat" cmpd="sng" w="38100">
            <a:solidFill>
              <a:srgbClr val="EA9999"/>
            </a:solidFill>
            <a:prstDash val="dash"/>
            <a:round/>
            <a:headEnd len="med" w="med" type="none"/>
            <a:tailEnd len="med" w="med" type="triangle"/>
          </a:ln>
        </p:spPr>
      </p:cxnSp>
      <p:sp>
        <p:nvSpPr>
          <p:cNvPr id="95" name="Google Shape;95;p16"/>
          <p:cNvSpPr txBox="1"/>
          <p:nvPr/>
        </p:nvSpPr>
        <p:spPr>
          <a:xfrm>
            <a:off x="1959425" y="2322700"/>
            <a:ext cx="61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ExtraBold"/>
                <a:ea typeface="Nunito ExtraBold"/>
                <a:cs typeface="Nunito ExtraBold"/>
                <a:sym typeface="Nunito ExtraBold"/>
              </a:rPr>
              <a:t>6.05</a:t>
            </a:r>
            <a:endParaRPr>
              <a:latin typeface="Nunito ExtraBold"/>
              <a:ea typeface="Nunito ExtraBold"/>
              <a:cs typeface="Nunito ExtraBold"/>
              <a:sym typeface="Nunito ExtraBold"/>
            </a:endParaRPr>
          </a:p>
        </p:txBody>
      </p:sp>
      <p:sp>
        <p:nvSpPr>
          <p:cNvPr id="96" name="Google Shape;96;p16"/>
          <p:cNvSpPr txBox="1"/>
          <p:nvPr/>
        </p:nvSpPr>
        <p:spPr>
          <a:xfrm>
            <a:off x="6528950" y="3521575"/>
            <a:ext cx="61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ExtraBold"/>
                <a:ea typeface="Nunito ExtraBold"/>
                <a:cs typeface="Nunito ExtraBold"/>
                <a:sym typeface="Nunito ExtraBold"/>
              </a:rPr>
              <a:t>4.35</a:t>
            </a:r>
            <a:endParaRPr>
              <a:latin typeface="Nunito ExtraBold"/>
              <a:ea typeface="Nunito ExtraBold"/>
              <a:cs typeface="Nunito ExtraBold"/>
              <a:sym typeface="Nunito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00" name="Shape 100"/>
        <p:cNvGrpSpPr/>
        <p:nvPr/>
      </p:nvGrpSpPr>
      <p:grpSpPr>
        <a:xfrm>
          <a:off x="0" y="0"/>
          <a:ext cx="0" cy="0"/>
          <a:chOff x="0" y="0"/>
          <a:chExt cx="0" cy="0"/>
        </a:xfrm>
      </p:grpSpPr>
      <p:sp>
        <p:nvSpPr>
          <p:cNvPr id="101" name="Google Shape;101;p17"/>
          <p:cNvSpPr txBox="1"/>
          <p:nvPr>
            <p:ph type="title"/>
          </p:nvPr>
        </p:nvSpPr>
        <p:spPr>
          <a:xfrm>
            <a:off x="-75" y="2150850"/>
            <a:ext cx="9144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640">
                <a:latin typeface="Nunito"/>
                <a:ea typeface="Nunito"/>
                <a:cs typeface="Nunito"/>
                <a:sym typeface="Nunito"/>
              </a:rPr>
              <a:t>But... does this overall trend tell the whole story?</a:t>
            </a:r>
            <a:endParaRPr b="1" sz="264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B3640"/>
                </a:solidFill>
                <a:latin typeface="Nunito"/>
                <a:ea typeface="Nunito"/>
                <a:cs typeface="Nunito"/>
                <a:sym typeface="Nunito"/>
              </a:rPr>
              <a:t>A tale of Two Realities: A Deep and Persistent Racial Gap</a:t>
            </a:r>
            <a:endParaRPr b="1" sz="3300">
              <a:solidFill>
                <a:srgbClr val="2B3640"/>
              </a:solidFill>
              <a:latin typeface="Nunito"/>
              <a:ea typeface="Nunito"/>
              <a:cs typeface="Nunito"/>
              <a:sym typeface="Nunito"/>
            </a:endParaRPr>
          </a:p>
        </p:txBody>
      </p:sp>
      <p:pic>
        <p:nvPicPr>
          <p:cNvPr id="107" name="Google Shape;107;p18"/>
          <p:cNvPicPr preferRelativeResize="0"/>
          <p:nvPr/>
        </p:nvPicPr>
        <p:blipFill>
          <a:blip r:embed="rId3">
            <a:alphaModFix/>
          </a:blip>
          <a:stretch>
            <a:fillRect/>
          </a:stretch>
        </p:blipFill>
        <p:spPr>
          <a:xfrm>
            <a:off x="2079663" y="1524025"/>
            <a:ext cx="4984676" cy="3081451"/>
          </a:xfrm>
          <a:prstGeom prst="rect">
            <a:avLst/>
          </a:prstGeom>
          <a:noFill/>
          <a:ln>
            <a:noFill/>
          </a:ln>
        </p:spPr>
      </p:pic>
      <p:sp>
        <p:nvSpPr>
          <p:cNvPr id="108" name="Google Shape;108;p18"/>
          <p:cNvSpPr txBox="1"/>
          <p:nvPr/>
        </p:nvSpPr>
        <p:spPr>
          <a:xfrm>
            <a:off x="2706850" y="2179300"/>
            <a:ext cx="3568800" cy="461700"/>
          </a:xfrm>
          <a:prstGeom prst="rect">
            <a:avLst/>
          </a:prstGeom>
          <a:solidFill>
            <a:srgbClr val="F8F5EE"/>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rgbClr val="2B3640"/>
                </a:solidFill>
                <a:latin typeface="Nunito SemiBold"/>
                <a:ea typeface="Nunito SemiBold"/>
                <a:cs typeface="Nunito SemiBold"/>
                <a:sym typeface="Nunito SemiBold"/>
              </a:rPr>
              <a:t>The fetal mortality rate for Black mothers has consistently remained more than double the rate for White mothers</a:t>
            </a:r>
            <a:endParaRPr sz="900">
              <a:solidFill>
                <a:srgbClr val="2B3640"/>
              </a:solidFill>
              <a:latin typeface="Nunito SemiBold"/>
              <a:ea typeface="Nunito SemiBold"/>
              <a:cs typeface="Nunito SemiBold"/>
              <a:sym typeface="Nunito SemiBold"/>
            </a:endParaRPr>
          </a:p>
        </p:txBody>
      </p:sp>
      <p:cxnSp>
        <p:nvCxnSpPr>
          <p:cNvPr id="109" name="Google Shape;109;p18"/>
          <p:cNvCxnSpPr/>
          <p:nvPr/>
        </p:nvCxnSpPr>
        <p:spPr>
          <a:xfrm>
            <a:off x="6390025" y="3097375"/>
            <a:ext cx="6600" cy="747300"/>
          </a:xfrm>
          <a:prstGeom prst="straightConnector1">
            <a:avLst/>
          </a:prstGeom>
          <a:noFill/>
          <a:ln cap="flat" cmpd="sng" w="19050">
            <a:solidFill>
              <a:schemeClr val="dk2"/>
            </a:solidFill>
            <a:prstDash val="lgDash"/>
            <a:round/>
            <a:headEnd len="med" w="med" type="triangle"/>
            <a:tailEnd len="med" w="med" type="triangle"/>
          </a:ln>
        </p:spPr>
      </p:cxnSp>
      <p:cxnSp>
        <p:nvCxnSpPr>
          <p:cNvPr id="110" name="Google Shape;110;p18"/>
          <p:cNvCxnSpPr/>
          <p:nvPr/>
        </p:nvCxnSpPr>
        <p:spPr>
          <a:xfrm rot="10800000">
            <a:off x="5474400" y="2599050"/>
            <a:ext cx="807900" cy="814800"/>
          </a:xfrm>
          <a:prstGeom prst="straightConnector1">
            <a:avLst/>
          </a:prstGeom>
          <a:noFill/>
          <a:ln cap="flat" cmpd="sng" w="9525">
            <a:solidFill>
              <a:srgbClr val="62799E"/>
            </a:solidFill>
            <a:prstDash val="solid"/>
            <a:round/>
            <a:headEnd len="med" w="med" type="none"/>
            <a:tailEnd len="med" w="med" type="none"/>
          </a:ln>
        </p:spPr>
      </p:cxnSp>
      <p:sp>
        <p:nvSpPr>
          <p:cNvPr id="111" name="Google Shape;111;p18"/>
          <p:cNvSpPr txBox="1"/>
          <p:nvPr/>
        </p:nvSpPr>
        <p:spPr>
          <a:xfrm>
            <a:off x="6717500" y="2790525"/>
            <a:ext cx="579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B3640"/>
                </a:solidFill>
                <a:latin typeface="Nunito SemiBold"/>
                <a:ea typeface="Nunito SemiBold"/>
                <a:cs typeface="Nunito SemiBold"/>
                <a:sym typeface="Nunito SemiBold"/>
              </a:rPr>
              <a:t>Black</a:t>
            </a:r>
            <a:endParaRPr sz="1100">
              <a:solidFill>
                <a:srgbClr val="2B3640"/>
              </a:solidFill>
              <a:latin typeface="Nunito SemiBold"/>
              <a:ea typeface="Nunito SemiBold"/>
              <a:cs typeface="Nunito SemiBold"/>
              <a:sym typeface="Nunito SemiBold"/>
            </a:endParaRPr>
          </a:p>
        </p:txBody>
      </p:sp>
      <p:sp>
        <p:nvSpPr>
          <p:cNvPr id="112" name="Google Shape;112;p18"/>
          <p:cNvSpPr txBox="1"/>
          <p:nvPr/>
        </p:nvSpPr>
        <p:spPr>
          <a:xfrm>
            <a:off x="6717500" y="3737425"/>
            <a:ext cx="80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B3640"/>
                </a:solidFill>
                <a:latin typeface="Nunito SemiBold"/>
                <a:ea typeface="Nunito SemiBold"/>
                <a:cs typeface="Nunito SemiBold"/>
                <a:sym typeface="Nunito SemiBold"/>
              </a:rPr>
              <a:t>White</a:t>
            </a:r>
            <a:endParaRPr sz="1100">
              <a:solidFill>
                <a:srgbClr val="2B3640"/>
              </a:solidFill>
              <a:latin typeface="Nunito SemiBold"/>
              <a:ea typeface="Nunito SemiBold"/>
              <a:cs typeface="Nunito SemiBold"/>
              <a:sym typeface="Nunito SemiBold"/>
            </a:endParaRPr>
          </a:p>
        </p:txBody>
      </p:sp>
      <p:sp>
        <p:nvSpPr>
          <p:cNvPr id="113" name="Google Shape;113;p18"/>
          <p:cNvSpPr txBox="1"/>
          <p:nvPr/>
        </p:nvSpPr>
        <p:spPr>
          <a:xfrm>
            <a:off x="6275650" y="3950450"/>
            <a:ext cx="807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B3640"/>
                </a:solidFill>
                <a:latin typeface="Nunito SemiBold"/>
                <a:ea typeface="Nunito SemiBold"/>
                <a:cs typeface="Nunito SemiBold"/>
                <a:sym typeface="Nunito SemiBold"/>
              </a:rPr>
              <a:t>Other</a:t>
            </a:r>
            <a:endParaRPr sz="1100">
              <a:solidFill>
                <a:srgbClr val="2B3640"/>
              </a:solidFill>
              <a:latin typeface="Nunito SemiBold"/>
              <a:ea typeface="Nunito SemiBold"/>
              <a:cs typeface="Nunito SemiBold"/>
              <a:sym typeface="Nunito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3300">
                <a:solidFill>
                  <a:srgbClr val="2B3640"/>
                </a:solidFill>
                <a:latin typeface="Nunito"/>
                <a:ea typeface="Nunito"/>
                <a:cs typeface="Nunito"/>
                <a:sym typeface="Nunito"/>
              </a:rPr>
              <a:t>Black Mothers Face 2.5 Times</a:t>
            </a:r>
            <a:endParaRPr b="1" sz="3300">
              <a:solidFill>
                <a:srgbClr val="2B3640"/>
              </a:solidFill>
              <a:latin typeface="Nunito"/>
              <a:ea typeface="Nunito"/>
              <a:cs typeface="Nunito"/>
              <a:sym typeface="Nunito"/>
            </a:endParaRPr>
          </a:p>
          <a:p>
            <a:pPr indent="0" lvl="0" marL="0" rtl="0" algn="ctr">
              <a:spcBef>
                <a:spcPts val="0"/>
              </a:spcBef>
              <a:spcAft>
                <a:spcPts val="0"/>
              </a:spcAft>
              <a:buNone/>
            </a:pPr>
            <a:r>
              <a:rPr b="1" lang="en" sz="3300">
                <a:solidFill>
                  <a:srgbClr val="2B3640"/>
                </a:solidFill>
                <a:latin typeface="Nunito"/>
                <a:ea typeface="Nunito"/>
                <a:cs typeface="Nunito"/>
                <a:sym typeface="Nunito"/>
              </a:rPr>
              <a:t>the Risk of Fetal Loss</a:t>
            </a:r>
            <a:endParaRPr b="1" sz="3300">
              <a:solidFill>
                <a:srgbClr val="2B3640"/>
              </a:solidFill>
              <a:latin typeface="Nunito"/>
              <a:ea typeface="Nunito"/>
              <a:cs typeface="Nunito"/>
              <a:sym typeface="Nunito"/>
            </a:endParaRPr>
          </a:p>
        </p:txBody>
      </p:sp>
      <p:cxnSp>
        <p:nvCxnSpPr>
          <p:cNvPr id="119" name="Google Shape;119;p19"/>
          <p:cNvCxnSpPr/>
          <p:nvPr/>
        </p:nvCxnSpPr>
        <p:spPr>
          <a:xfrm>
            <a:off x="1326475" y="4625875"/>
            <a:ext cx="6565200" cy="6600"/>
          </a:xfrm>
          <a:prstGeom prst="straightConnector1">
            <a:avLst/>
          </a:prstGeom>
          <a:noFill/>
          <a:ln cap="flat" cmpd="sng" w="9525">
            <a:solidFill>
              <a:schemeClr val="dk2"/>
            </a:solidFill>
            <a:prstDash val="solid"/>
            <a:round/>
            <a:headEnd len="med" w="med" type="none"/>
            <a:tailEnd len="med" w="med" type="none"/>
          </a:ln>
        </p:spPr>
      </p:cxnSp>
      <p:sp>
        <p:nvSpPr>
          <p:cNvPr id="120" name="Google Shape;120;p19"/>
          <p:cNvSpPr/>
          <p:nvPr/>
        </p:nvSpPr>
        <p:spPr>
          <a:xfrm>
            <a:off x="2141225" y="2046775"/>
            <a:ext cx="2013300" cy="258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9"/>
          <p:cNvSpPr/>
          <p:nvPr/>
        </p:nvSpPr>
        <p:spPr>
          <a:xfrm>
            <a:off x="5222675" y="3582175"/>
            <a:ext cx="2013300" cy="1050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9"/>
          <p:cNvSpPr txBox="1"/>
          <p:nvPr/>
        </p:nvSpPr>
        <p:spPr>
          <a:xfrm>
            <a:off x="5384225" y="3104100"/>
            <a:ext cx="169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2B3640"/>
                </a:solidFill>
                <a:latin typeface="Nunito SemiBold"/>
                <a:ea typeface="Nunito SemiBold"/>
                <a:cs typeface="Nunito SemiBold"/>
                <a:sym typeface="Nunito SemiBold"/>
              </a:rPr>
              <a:t>3.58 per 1,000</a:t>
            </a:r>
            <a:endParaRPr>
              <a:solidFill>
                <a:srgbClr val="2B3640"/>
              </a:solidFill>
              <a:latin typeface="Nunito SemiBold"/>
              <a:ea typeface="Nunito SemiBold"/>
              <a:cs typeface="Nunito SemiBold"/>
              <a:sym typeface="Nunito SemiBold"/>
            </a:endParaRPr>
          </a:p>
        </p:txBody>
      </p:sp>
      <p:sp>
        <p:nvSpPr>
          <p:cNvPr id="123" name="Google Shape;123;p19"/>
          <p:cNvSpPr txBox="1"/>
          <p:nvPr/>
        </p:nvSpPr>
        <p:spPr>
          <a:xfrm>
            <a:off x="2302775" y="1612250"/>
            <a:ext cx="1690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2B3640"/>
                </a:solidFill>
                <a:latin typeface="Nunito SemiBold"/>
                <a:ea typeface="Nunito SemiBold"/>
                <a:cs typeface="Nunito SemiBold"/>
                <a:sym typeface="Nunito SemiBold"/>
              </a:rPr>
              <a:t>8.84 per 1,000</a:t>
            </a:r>
            <a:endParaRPr>
              <a:solidFill>
                <a:srgbClr val="2B3640"/>
              </a:solidFill>
              <a:latin typeface="Nunito SemiBold"/>
              <a:ea typeface="Nunito SemiBold"/>
              <a:cs typeface="Nunito SemiBold"/>
              <a:sym typeface="Nunito SemiBold"/>
            </a:endParaRPr>
          </a:p>
        </p:txBody>
      </p:sp>
      <p:sp>
        <p:nvSpPr>
          <p:cNvPr id="124" name="Google Shape;124;p19"/>
          <p:cNvSpPr txBox="1"/>
          <p:nvPr/>
        </p:nvSpPr>
        <p:spPr>
          <a:xfrm>
            <a:off x="5101500" y="1791650"/>
            <a:ext cx="15849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900">
                <a:solidFill>
                  <a:srgbClr val="2B3640"/>
                </a:solidFill>
                <a:latin typeface="Nunito"/>
                <a:ea typeface="Nunito"/>
                <a:cs typeface="Nunito"/>
                <a:sym typeface="Nunito"/>
              </a:rPr>
              <a:t>2.5x</a:t>
            </a:r>
            <a:endParaRPr b="1" sz="3900">
              <a:solidFill>
                <a:srgbClr val="2B3640"/>
              </a:solidFill>
              <a:latin typeface="Nunito"/>
              <a:ea typeface="Nunito"/>
              <a:cs typeface="Nunito"/>
              <a:sym typeface="Nunito"/>
            </a:endParaRPr>
          </a:p>
        </p:txBody>
      </p:sp>
      <p:cxnSp>
        <p:nvCxnSpPr>
          <p:cNvPr id="125" name="Google Shape;125;p19"/>
          <p:cNvCxnSpPr/>
          <p:nvPr/>
        </p:nvCxnSpPr>
        <p:spPr>
          <a:xfrm rot="10800000">
            <a:off x="4087500" y="1638625"/>
            <a:ext cx="1594500" cy="1418100"/>
          </a:xfrm>
          <a:prstGeom prst="curvedConnector3">
            <a:avLst>
              <a:gd fmla="val 50000" name="adj1"/>
            </a:avLst>
          </a:prstGeom>
          <a:noFill/>
          <a:ln cap="flat" cmpd="sng" w="114300">
            <a:solidFill>
              <a:srgbClr val="EC8A6D"/>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300">
                <a:solidFill>
                  <a:srgbClr val="2B3640"/>
                </a:solidFill>
                <a:latin typeface="Nunito"/>
                <a:ea typeface="Nunito"/>
                <a:cs typeface="Nunito"/>
                <a:sym typeface="Nunito"/>
              </a:rPr>
              <a:t>Risk is Highest among the Youngest</a:t>
            </a:r>
            <a:endParaRPr b="1" sz="3300">
              <a:solidFill>
                <a:srgbClr val="2B3640"/>
              </a:solidFill>
              <a:latin typeface="Nunito"/>
              <a:ea typeface="Nunito"/>
              <a:cs typeface="Nunito"/>
              <a:sym typeface="Nunito"/>
            </a:endParaRPr>
          </a:p>
        </p:txBody>
      </p:sp>
      <p:pic>
        <p:nvPicPr>
          <p:cNvPr id="131" name="Google Shape;131;p20"/>
          <p:cNvPicPr preferRelativeResize="0"/>
          <p:nvPr/>
        </p:nvPicPr>
        <p:blipFill>
          <a:blip r:embed="rId3">
            <a:alphaModFix/>
          </a:blip>
          <a:stretch>
            <a:fillRect/>
          </a:stretch>
        </p:blipFill>
        <p:spPr>
          <a:xfrm>
            <a:off x="311700" y="1524025"/>
            <a:ext cx="4776499" cy="2952749"/>
          </a:xfrm>
          <a:prstGeom prst="rect">
            <a:avLst/>
          </a:prstGeom>
          <a:noFill/>
          <a:ln>
            <a:noFill/>
          </a:ln>
        </p:spPr>
      </p:pic>
      <p:sp>
        <p:nvSpPr>
          <p:cNvPr id="132" name="Google Shape;132;p20"/>
          <p:cNvSpPr txBox="1"/>
          <p:nvPr/>
        </p:nvSpPr>
        <p:spPr>
          <a:xfrm>
            <a:off x="5732975" y="1524025"/>
            <a:ext cx="2502000" cy="831300"/>
          </a:xfrm>
          <a:prstGeom prst="rect">
            <a:avLst/>
          </a:prstGeom>
          <a:solidFill>
            <a:srgbClr val="F8F5E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see elevated rates among the youngest (7.18 per 1,000 for ages 15-19)</a:t>
            </a:r>
            <a:endParaRPr/>
          </a:p>
        </p:txBody>
      </p:sp>
      <p:pic>
        <p:nvPicPr>
          <p:cNvPr id="133" name="Google Shape;133;p20"/>
          <p:cNvPicPr preferRelativeResize="0"/>
          <p:nvPr/>
        </p:nvPicPr>
        <p:blipFill>
          <a:blip r:embed="rId4">
            <a:alphaModFix/>
          </a:blip>
          <a:stretch>
            <a:fillRect/>
          </a:stretch>
        </p:blipFill>
        <p:spPr>
          <a:xfrm>
            <a:off x="5138850" y="2902100"/>
            <a:ext cx="3786124" cy="157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100">
                <a:solidFill>
                  <a:srgbClr val="2B3640"/>
                </a:solidFill>
                <a:latin typeface="Nunito"/>
                <a:ea typeface="Nunito"/>
                <a:cs typeface="Nunito"/>
                <a:sym typeface="Nunito"/>
              </a:rPr>
              <a:t>Shows No Significant Difference by</a:t>
            </a:r>
            <a:r>
              <a:rPr b="1" lang="en" sz="3100">
                <a:solidFill>
                  <a:srgbClr val="2B3640"/>
                </a:solidFill>
                <a:latin typeface="Nunito"/>
                <a:ea typeface="Nunito"/>
                <a:cs typeface="Nunito"/>
                <a:sym typeface="Nunito"/>
              </a:rPr>
              <a:t> Fetal</a:t>
            </a:r>
            <a:r>
              <a:rPr b="1" lang="en" sz="3100">
                <a:solidFill>
                  <a:srgbClr val="2B3640"/>
                </a:solidFill>
                <a:latin typeface="Nunito"/>
                <a:ea typeface="Nunito"/>
                <a:cs typeface="Nunito"/>
                <a:sym typeface="Nunito"/>
              </a:rPr>
              <a:t> Sex</a:t>
            </a:r>
            <a:endParaRPr b="1" sz="3100">
              <a:solidFill>
                <a:srgbClr val="2B3640"/>
              </a:solidFill>
              <a:latin typeface="Nunito"/>
              <a:ea typeface="Nunito"/>
              <a:cs typeface="Nunito"/>
              <a:sym typeface="Nunito"/>
            </a:endParaRPr>
          </a:p>
        </p:txBody>
      </p:sp>
      <p:pic>
        <p:nvPicPr>
          <p:cNvPr id="139" name="Google Shape;139;p21"/>
          <p:cNvPicPr preferRelativeResize="0"/>
          <p:nvPr/>
        </p:nvPicPr>
        <p:blipFill>
          <a:blip r:embed="rId3">
            <a:alphaModFix/>
          </a:blip>
          <a:stretch>
            <a:fillRect/>
          </a:stretch>
        </p:blipFill>
        <p:spPr>
          <a:xfrm>
            <a:off x="1799750" y="1385700"/>
            <a:ext cx="5361975" cy="3314676"/>
          </a:xfrm>
          <a:prstGeom prst="rect">
            <a:avLst/>
          </a:prstGeom>
          <a:noFill/>
          <a:ln>
            <a:noFill/>
          </a:ln>
        </p:spPr>
      </p:pic>
      <p:sp>
        <p:nvSpPr>
          <p:cNvPr id="140" name="Google Shape;140;p21"/>
          <p:cNvSpPr txBox="1"/>
          <p:nvPr/>
        </p:nvSpPr>
        <p:spPr>
          <a:xfrm>
            <a:off x="2501825" y="2131825"/>
            <a:ext cx="5690700" cy="615600"/>
          </a:xfrm>
          <a:prstGeom prst="rect">
            <a:avLst/>
          </a:prstGeom>
          <a:solidFill>
            <a:srgbClr val="F8F5EE"/>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SemiBold"/>
                <a:ea typeface="Nunito SemiBold"/>
                <a:cs typeface="Nunito SemiBold"/>
                <a:sym typeface="Nunito SemiBold"/>
              </a:rPr>
              <a:t>The rates for male (5.15 per 1,000) and female (5.17 per 1,000) are nearly identical and track closely over time.</a:t>
            </a:r>
            <a:endParaRPr>
              <a:latin typeface="Nunito SemiBold"/>
              <a:ea typeface="Nunito SemiBold"/>
              <a:cs typeface="Nunito SemiBold"/>
              <a:sym typeface="Nunito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100">
                <a:solidFill>
                  <a:srgbClr val="2B3640"/>
                </a:solidFill>
                <a:latin typeface="Nunito"/>
                <a:ea typeface="Nunito"/>
                <a:cs typeface="Nunito"/>
                <a:sym typeface="Nunito"/>
              </a:rPr>
              <a:t>From Data to Meaning: The Story of Inequity</a:t>
            </a:r>
            <a:endParaRPr b="1" sz="3100">
              <a:solidFill>
                <a:srgbClr val="2B3640"/>
              </a:solidFill>
              <a:latin typeface="Nunito"/>
              <a:ea typeface="Nunito"/>
              <a:cs typeface="Nunito"/>
              <a:sym typeface="Nunito"/>
            </a:endParaRPr>
          </a:p>
        </p:txBody>
      </p:sp>
      <p:sp>
        <p:nvSpPr>
          <p:cNvPr id="146" name="Google Shape;146;p22"/>
          <p:cNvSpPr txBox="1"/>
          <p:nvPr/>
        </p:nvSpPr>
        <p:spPr>
          <a:xfrm>
            <a:off x="2454575" y="1340575"/>
            <a:ext cx="3735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B3640"/>
                </a:solidFill>
                <a:latin typeface="Nunito SemiBold"/>
                <a:ea typeface="Nunito SemiBold"/>
                <a:cs typeface="Nunito SemiBold"/>
                <a:sym typeface="Nunito SemiBold"/>
              </a:rPr>
              <a:t>1. Averages Hide Disparities</a:t>
            </a:r>
            <a:endParaRPr sz="1800">
              <a:solidFill>
                <a:srgbClr val="2B3640"/>
              </a:solidFill>
              <a:latin typeface="Nunito SemiBold"/>
              <a:ea typeface="Nunito SemiBold"/>
              <a:cs typeface="Nunito SemiBold"/>
              <a:sym typeface="Nunito SemiBold"/>
            </a:endParaRPr>
          </a:p>
        </p:txBody>
      </p:sp>
      <p:sp>
        <p:nvSpPr>
          <p:cNvPr id="147" name="Google Shape;147;p22"/>
          <p:cNvSpPr txBox="1"/>
          <p:nvPr/>
        </p:nvSpPr>
        <p:spPr>
          <a:xfrm>
            <a:off x="2454575" y="1762113"/>
            <a:ext cx="5091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Our overall progress is positive, but it masks a critical and</a:t>
            </a:r>
            <a:endParaRPr>
              <a:latin typeface="Nunito"/>
              <a:ea typeface="Nunito"/>
              <a:cs typeface="Nunito"/>
              <a:sym typeface="Nunito"/>
            </a:endParaRPr>
          </a:p>
          <a:p>
            <a:pPr indent="0" lvl="0" marL="0" rtl="0" algn="l">
              <a:spcBef>
                <a:spcPts val="0"/>
              </a:spcBef>
              <a:spcAft>
                <a:spcPts val="0"/>
              </a:spcAft>
              <a:buNone/>
            </a:pPr>
            <a:r>
              <a:rPr lang="en">
                <a:latin typeface="Nunito"/>
                <a:ea typeface="Nunito"/>
                <a:cs typeface="Nunito"/>
                <a:sym typeface="Nunito"/>
              </a:rPr>
              <a:t>ongoing crisis for Black families in our community.</a:t>
            </a:r>
            <a:endParaRPr>
              <a:latin typeface="Nunito"/>
              <a:ea typeface="Nunito"/>
              <a:cs typeface="Nunito"/>
              <a:sym typeface="Nunito"/>
            </a:endParaRPr>
          </a:p>
        </p:txBody>
      </p:sp>
      <p:sp>
        <p:nvSpPr>
          <p:cNvPr id="148" name="Google Shape;148;p22"/>
          <p:cNvSpPr txBox="1"/>
          <p:nvPr/>
        </p:nvSpPr>
        <p:spPr>
          <a:xfrm>
            <a:off x="2454575" y="2498750"/>
            <a:ext cx="3735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B3640"/>
                </a:solidFill>
                <a:latin typeface="Nunito SemiBold"/>
                <a:ea typeface="Nunito SemiBold"/>
                <a:cs typeface="Nunito SemiBold"/>
                <a:sym typeface="Nunito SemiBold"/>
              </a:rPr>
              <a:t>2</a:t>
            </a:r>
            <a:r>
              <a:rPr lang="en" sz="1800">
                <a:solidFill>
                  <a:srgbClr val="2B3640"/>
                </a:solidFill>
                <a:latin typeface="Nunito SemiBold"/>
                <a:ea typeface="Nunito SemiBold"/>
                <a:cs typeface="Nunito SemiBold"/>
                <a:sym typeface="Nunito SemiBold"/>
              </a:rPr>
              <a:t>. </a:t>
            </a:r>
            <a:r>
              <a:rPr lang="en" sz="1800">
                <a:solidFill>
                  <a:srgbClr val="2B3640"/>
                </a:solidFill>
                <a:latin typeface="Nunito SemiBold"/>
                <a:ea typeface="Nunito SemiBold"/>
                <a:cs typeface="Nunito SemiBold"/>
                <a:sym typeface="Nunito SemiBold"/>
              </a:rPr>
              <a:t>This is a Systemic Issue</a:t>
            </a:r>
            <a:endParaRPr sz="1800">
              <a:solidFill>
                <a:srgbClr val="2B3640"/>
              </a:solidFill>
              <a:latin typeface="Nunito SemiBold"/>
              <a:ea typeface="Nunito SemiBold"/>
              <a:cs typeface="Nunito SemiBold"/>
              <a:sym typeface="Nunito SemiBold"/>
            </a:endParaRPr>
          </a:p>
        </p:txBody>
      </p:sp>
      <p:sp>
        <p:nvSpPr>
          <p:cNvPr id="149" name="Google Shape;149;p22"/>
          <p:cNvSpPr txBox="1"/>
          <p:nvPr/>
        </p:nvSpPr>
        <p:spPr>
          <a:xfrm>
            <a:off x="2493475" y="2824313"/>
            <a:ext cx="5091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latin typeface="Nunito"/>
                <a:ea typeface="Nunito"/>
                <a:cs typeface="Nunito"/>
                <a:sym typeface="Nunito"/>
              </a:rPr>
              <a:t>A gap this large and persistent is not about individual choices. It points to systemic factors like healthcare access, quality of care, and structural inequities.</a:t>
            </a:r>
            <a:endParaRPr>
              <a:latin typeface="Nunito"/>
              <a:ea typeface="Nunito"/>
              <a:cs typeface="Nunito"/>
              <a:sym typeface="Nunito"/>
            </a:endParaRPr>
          </a:p>
          <a:p>
            <a:pPr indent="0" lvl="0" marL="0" rtl="0" algn="l">
              <a:spcBef>
                <a:spcPts val="0"/>
              </a:spcBef>
              <a:spcAft>
                <a:spcPts val="0"/>
              </a:spcAft>
              <a:buNone/>
            </a:pPr>
            <a:r>
              <a:t/>
            </a:r>
            <a:endParaRPr>
              <a:latin typeface="Nunito"/>
              <a:ea typeface="Nunito"/>
              <a:cs typeface="Nunito"/>
              <a:sym typeface="Nunito"/>
            </a:endParaRPr>
          </a:p>
        </p:txBody>
      </p:sp>
      <p:sp>
        <p:nvSpPr>
          <p:cNvPr id="150" name="Google Shape;150;p22"/>
          <p:cNvSpPr txBox="1"/>
          <p:nvPr/>
        </p:nvSpPr>
        <p:spPr>
          <a:xfrm>
            <a:off x="2454575" y="3823725"/>
            <a:ext cx="3735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B3640"/>
                </a:solidFill>
                <a:latin typeface="Nunito SemiBold"/>
                <a:ea typeface="Nunito SemiBold"/>
                <a:cs typeface="Nunito SemiBold"/>
                <a:sym typeface="Nunito SemiBold"/>
              </a:rPr>
              <a:t>3</a:t>
            </a:r>
            <a:r>
              <a:rPr lang="en" sz="1800">
                <a:solidFill>
                  <a:srgbClr val="2B3640"/>
                </a:solidFill>
                <a:latin typeface="Nunito SemiBold"/>
                <a:ea typeface="Nunito SemiBold"/>
                <a:cs typeface="Nunito SemiBold"/>
                <a:sym typeface="Nunito SemiBold"/>
              </a:rPr>
              <a:t>. </a:t>
            </a:r>
            <a:r>
              <a:rPr lang="en" sz="1800">
                <a:solidFill>
                  <a:srgbClr val="2B3640"/>
                </a:solidFill>
                <a:latin typeface="Nunito SemiBold"/>
                <a:ea typeface="Nunito SemiBold"/>
                <a:cs typeface="Nunito SemiBold"/>
                <a:sym typeface="Nunito SemiBold"/>
              </a:rPr>
              <a:t>This is a Call to Action</a:t>
            </a:r>
            <a:endParaRPr sz="1800">
              <a:solidFill>
                <a:srgbClr val="2B3640"/>
              </a:solidFill>
              <a:latin typeface="Nunito SemiBold"/>
              <a:ea typeface="Nunito SemiBold"/>
              <a:cs typeface="Nunito SemiBold"/>
              <a:sym typeface="Nunito SemiBold"/>
            </a:endParaRPr>
          </a:p>
        </p:txBody>
      </p:sp>
      <p:sp>
        <p:nvSpPr>
          <p:cNvPr id="151" name="Google Shape;151;p22"/>
          <p:cNvSpPr txBox="1"/>
          <p:nvPr/>
        </p:nvSpPr>
        <p:spPr>
          <a:xfrm>
            <a:off x="2493475" y="4192700"/>
            <a:ext cx="509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a:ea typeface="Nunito"/>
                <a:cs typeface="Nunito"/>
                <a:sym typeface="Nunito"/>
              </a:rPr>
              <a:t>This data is not just information; it is a mandate to act.</a:t>
            </a:r>
            <a:endParaRPr>
              <a:latin typeface="Nunito"/>
              <a:ea typeface="Nunito"/>
              <a:cs typeface="Nunito"/>
              <a:sym typeface="Nunito"/>
            </a:endParaRPr>
          </a:p>
        </p:txBody>
      </p:sp>
      <p:pic>
        <p:nvPicPr>
          <p:cNvPr id="152" name="Google Shape;152;p22"/>
          <p:cNvPicPr preferRelativeResize="0"/>
          <p:nvPr/>
        </p:nvPicPr>
        <p:blipFill>
          <a:blip r:embed="rId3">
            <a:alphaModFix/>
          </a:blip>
          <a:stretch>
            <a:fillRect/>
          </a:stretch>
        </p:blipFill>
        <p:spPr>
          <a:xfrm>
            <a:off x="1042549" y="1286725"/>
            <a:ext cx="1106901" cy="1046700"/>
          </a:xfrm>
          <a:prstGeom prst="rect">
            <a:avLst/>
          </a:prstGeom>
          <a:noFill/>
          <a:ln>
            <a:noFill/>
          </a:ln>
        </p:spPr>
      </p:pic>
      <p:pic>
        <p:nvPicPr>
          <p:cNvPr id="153" name="Google Shape;153;p22"/>
          <p:cNvPicPr preferRelativeResize="0"/>
          <p:nvPr/>
        </p:nvPicPr>
        <p:blipFill>
          <a:blip r:embed="rId4">
            <a:alphaModFix/>
          </a:blip>
          <a:stretch>
            <a:fillRect/>
          </a:stretch>
        </p:blipFill>
        <p:spPr>
          <a:xfrm>
            <a:off x="963293" y="2498750"/>
            <a:ext cx="1207144" cy="966712"/>
          </a:xfrm>
          <a:prstGeom prst="rect">
            <a:avLst/>
          </a:prstGeom>
          <a:noFill/>
          <a:ln>
            <a:noFill/>
          </a:ln>
        </p:spPr>
      </p:pic>
      <p:pic>
        <p:nvPicPr>
          <p:cNvPr id="154" name="Google Shape;154;p22"/>
          <p:cNvPicPr preferRelativeResize="0"/>
          <p:nvPr/>
        </p:nvPicPr>
        <p:blipFill>
          <a:blip r:embed="rId5">
            <a:alphaModFix/>
          </a:blip>
          <a:stretch>
            <a:fillRect/>
          </a:stretch>
        </p:blipFill>
        <p:spPr>
          <a:xfrm>
            <a:off x="1107687" y="3871025"/>
            <a:ext cx="918374" cy="87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58" name="Shape 158"/>
        <p:cNvGrpSpPr/>
        <p:nvPr/>
      </p:nvGrpSpPr>
      <p:grpSpPr>
        <a:xfrm>
          <a:off x="0" y="0"/>
          <a:ext cx="0" cy="0"/>
          <a:chOff x="0" y="0"/>
          <a:chExt cx="0" cy="0"/>
        </a:xfrm>
      </p:grpSpPr>
      <p:sp>
        <p:nvSpPr>
          <p:cNvPr id="159" name="Google Shape;159;p23"/>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rgbClr val="2B3640"/>
                </a:solidFill>
                <a:latin typeface="Nunito"/>
                <a:ea typeface="Nunito"/>
                <a:cs typeface="Nunito"/>
                <a:sym typeface="Nunito"/>
              </a:rPr>
              <a:t>How Can We Write a Different Story?</a:t>
            </a:r>
            <a:endParaRPr b="1" sz="3500">
              <a:solidFill>
                <a:srgbClr val="2B3640"/>
              </a:solidFill>
              <a:latin typeface="Nunito"/>
              <a:ea typeface="Nunito"/>
              <a:cs typeface="Nunito"/>
              <a:sym typeface="Nunito"/>
            </a:endParaRPr>
          </a:p>
        </p:txBody>
      </p:sp>
      <p:sp>
        <p:nvSpPr>
          <p:cNvPr id="160" name="Google Shape;160;p23"/>
          <p:cNvSpPr txBox="1"/>
          <p:nvPr/>
        </p:nvSpPr>
        <p:spPr>
          <a:xfrm>
            <a:off x="1824775" y="1481350"/>
            <a:ext cx="65448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Listen &amp; Learn:</a:t>
            </a:r>
            <a:r>
              <a:rPr lang="en" sz="1500">
                <a:solidFill>
                  <a:srgbClr val="2B3640"/>
                </a:solidFill>
                <a:latin typeface="Nunito"/>
                <a:ea typeface="Nunito"/>
                <a:cs typeface="Nunito"/>
                <a:sym typeface="Nunito"/>
              </a:rPr>
              <a:t> How do we center the voices and lived experiences to understand the "why" behind the numbers? to understand their lived experiences and co-design meaningful solutions</a:t>
            </a:r>
            <a:endParaRPr sz="1500">
              <a:solidFill>
                <a:srgbClr val="2B3640"/>
              </a:solidFill>
              <a:latin typeface="Nunito"/>
              <a:ea typeface="Nunito"/>
              <a:cs typeface="Nunito"/>
              <a:sym typeface="Nunito"/>
            </a:endParaRPr>
          </a:p>
        </p:txBody>
      </p:sp>
      <p:sp>
        <p:nvSpPr>
          <p:cNvPr id="161" name="Google Shape;161;p23"/>
          <p:cNvSpPr txBox="1"/>
          <p:nvPr/>
        </p:nvSpPr>
        <p:spPr>
          <a:xfrm>
            <a:off x="1858425" y="2571750"/>
            <a:ext cx="65448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Strengthen Support:</a:t>
            </a:r>
            <a:r>
              <a:rPr lang="en" sz="1500">
                <a:solidFill>
                  <a:srgbClr val="2B3640"/>
                </a:solidFill>
                <a:latin typeface="Nunito"/>
                <a:ea typeface="Nunito"/>
                <a:cs typeface="Nunito"/>
                <a:sym typeface="Nunito"/>
              </a:rPr>
              <a:t> What community-based programs can we expand to provide culturally competent care?  To improve the quality and availability of culturally competent care.</a:t>
            </a:r>
            <a:endParaRPr sz="1500">
              <a:solidFill>
                <a:srgbClr val="2B3640"/>
              </a:solidFill>
              <a:latin typeface="Nunito"/>
              <a:ea typeface="Nunito"/>
              <a:cs typeface="Nunito"/>
              <a:sym typeface="Nunito"/>
            </a:endParaRPr>
          </a:p>
        </p:txBody>
      </p:sp>
      <p:sp>
        <p:nvSpPr>
          <p:cNvPr id="162" name="Google Shape;162;p23"/>
          <p:cNvSpPr txBox="1"/>
          <p:nvPr/>
        </p:nvSpPr>
        <p:spPr>
          <a:xfrm>
            <a:off x="1858425" y="3785950"/>
            <a:ext cx="6544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Demand Equity:</a:t>
            </a:r>
            <a:r>
              <a:rPr lang="en" sz="1500">
                <a:solidFill>
                  <a:srgbClr val="2B3640"/>
                </a:solidFill>
                <a:latin typeface="Nunito"/>
                <a:ea typeface="Nunito"/>
                <a:cs typeface="Nunito"/>
                <a:sym typeface="Nunito"/>
              </a:rPr>
              <a:t> How can we work with healthcare systems ensure equitable, respectful care for every mother? Champion policies that address social determinants of health, such as stable housing, food security, and economic opportunity</a:t>
            </a:r>
            <a:endParaRPr sz="1500">
              <a:solidFill>
                <a:srgbClr val="2B3640"/>
              </a:solidFill>
              <a:latin typeface="Nunito"/>
              <a:ea typeface="Nunito"/>
              <a:cs typeface="Nunito"/>
              <a:sym typeface="Nunito"/>
            </a:endParaRPr>
          </a:p>
          <a:p>
            <a:pPr indent="0" lvl="0" marL="0" rtl="0" algn="l">
              <a:spcBef>
                <a:spcPts val="0"/>
              </a:spcBef>
              <a:spcAft>
                <a:spcPts val="0"/>
              </a:spcAft>
              <a:buNone/>
            </a:pPr>
            <a:r>
              <a:t/>
            </a:r>
            <a:endParaRPr sz="1500">
              <a:solidFill>
                <a:srgbClr val="2B3640"/>
              </a:solidFill>
              <a:latin typeface="Nunito"/>
              <a:ea typeface="Nunito"/>
              <a:cs typeface="Nunito"/>
              <a:sym typeface="Nunito"/>
            </a:endParaRPr>
          </a:p>
        </p:txBody>
      </p:sp>
      <p:pic>
        <p:nvPicPr>
          <p:cNvPr id="163" name="Google Shape;163;p23"/>
          <p:cNvPicPr preferRelativeResize="0"/>
          <p:nvPr/>
        </p:nvPicPr>
        <p:blipFill>
          <a:blip r:embed="rId3">
            <a:alphaModFix/>
          </a:blip>
          <a:stretch>
            <a:fillRect/>
          </a:stretch>
        </p:blipFill>
        <p:spPr>
          <a:xfrm>
            <a:off x="444425" y="1395163"/>
            <a:ext cx="1014550" cy="818875"/>
          </a:xfrm>
          <a:prstGeom prst="rect">
            <a:avLst/>
          </a:prstGeom>
          <a:noFill/>
          <a:ln>
            <a:noFill/>
          </a:ln>
        </p:spPr>
      </p:pic>
      <p:pic>
        <p:nvPicPr>
          <p:cNvPr id="164" name="Google Shape;164;p23"/>
          <p:cNvPicPr preferRelativeResize="0"/>
          <p:nvPr/>
        </p:nvPicPr>
        <p:blipFill>
          <a:blip r:embed="rId4">
            <a:alphaModFix/>
          </a:blip>
          <a:stretch>
            <a:fillRect/>
          </a:stretch>
        </p:blipFill>
        <p:spPr>
          <a:xfrm>
            <a:off x="498275" y="2305875"/>
            <a:ext cx="1098625" cy="1061001"/>
          </a:xfrm>
          <a:prstGeom prst="rect">
            <a:avLst/>
          </a:prstGeom>
          <a:noFill/>
          <a:ln>
            <a:noFill/>
          </a:ln>
        </p:spPr>
      </p:pic>
      <p:pic>
        <p:nvPicPr>
          <p:cNvPr id="165" name="Google Shape;165;p23"/>
          <p:cNvPicPr preferRelativeResize="0"/>
          <p:nvPr/>
        </p:nvPicPr>
        <p:blipFill>
          <a:blip r:embed="rId5">
            <a:alphaModFix/>
          </a:blip>
          <a:stretch>
            <a:fillRect/>
          </a:stretch>
        </p:blipFill>
        <p:spPr>
          <a:xfrm>
            <a:off x="578375" y="3571375"/>
            <a:ext cx="938425" cy="1020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69" name="Shape 169"/>
        <p:cNvGrpSpPr/>
        <p:nvPr/>
      </p:nvGrpSpPr>
      <p:grpSpPr>
        <a:xfrm>
          <a:off x="0" y="0"/>
          <a:ext cx="0" cy="0"/>
          <a:chOff x="0" y="0"/>
          <a:chExt cx="0" cy="0"/>
        </a:xfrm>
      </p:grpSpPr>
      <p:sp>
        <p:nvSpPr>
          <p:cNvPr id="170" name="Google Shape;170;p24"/>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500">
                <a:solidFill>
                  <a:srgbClr val="2B3640"/>
                </a:solidFill>
                <a:latin typeface="Nunito"/>
                <a:ea typeface="Nunito"/>
                <a:cs typeface="Nunito"/>
                <a:sym typeface="Nunito"/>
              </a:rPr>
              <a:t>What We Need for a Clearer Picture</a:t>
            </a:r>
            <a:endParaRPr b="1" sz="3500">
              <a:solidFill>
                <a:srgbClr val="2B3640"/>
              </a:solidFill>
              <a:latin typeface="Nunito"/>
              <a:ea typeface="Nunito"/>
              <a:cs typeface="Nunito"/>
              <a:sym typeface="Nunito"/>
            </a:endParaRPr>
          </a:p>
        </p:txBody>
      </p:sp>
      <p:sp>
        <p:nvSpPr>
          <p:cNvPr id="171" name="Google Shape;171;p24"/>
          <p:cNvSpPr txBox="1"/>
          <p:nvPr/>
        </p:nvSpPr>
        <p:spPr>
          <a:xfrm>
            <a:off x="2740525" y="1407275"/>
            <a:ext cx="5473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More Granular Data:</a:t>
            </a:r>
            <a:r>
              <a:rPr lang="en" sz="1500">
                <a:solidFill>
                  <a:srgbClr val="2B3640"/>
                </a:solidFill>
                <a:latin typeface="Nunito"/>
                <a:ea typeface="Nunito"/>
                <a:cs typeface="Nunito"/>
                <a:sym typeface="Nunito"/>
              </a:rPr>
              <a:t> Analysis by zip code or neighborhood to identify hotspots of disparities</a:t>
            </a:r>
            <a:endParaRPr sz="1500">
              <a:solidFill>
                <a:srgbClr val="2B3640"/>
              </a:solidFill>
              <a:latin typeface="Nunito"/>
              <a:ea typeface="Nunito"/>
              <a:cs typeface="Nunito"/>
              <a:sym typeface="Nunito"/>
            </a:endParaRPr>
          </a:p>
        </p:txBody>
      </p:sp>
      <p:sp>
        <p:nvSpPr>
          <p:cNvPr id="172" name="Google Shape;172;p24"/>
          <p:cNvSpPr txBox="1"/>
          <p:nvPr/>
        </p:nvSpPr>
        <p:spPr>
          <a:xfrm>
            <a:off x="2768665" y="2497675"/>
            <a:ext cx="5473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Linkage to Social Determinants:</a:t>
            </a:r>
            <a:r>
              <a:rPr lang="en" sz="1500">
                <a:solidFill>
                  <a:srgbClr val="2B3640"/>
                </a:solidFill>
                <a:latin typeface="Nunito"/>
                <a:ea typeface="Nunito"/>
                <a:cs typeface="Nunito"/>
                <a:sym typeface="Nunito"/>
              </a:rPr>
              <a:t> Connecting outcomes to data on housing, income, and education.</a:t>
            </a:r>
            <a:endParaRPr sz="1500">
              <a:solidFill>
                <a:srgbClr val="2B3640"/>
              </a:solidFill>
              <a:latin typeface="Nunito"/>
              <a:ea typeface="Nunito"/>
              <a:cs typeface="Nunito"/>
              <a:sym typeface="Nunito"/>
            </a:endParaRPr>
          </a:p>
        </p:txBody>
      </p:sp>
      <p:sp>
        <p:nvSpPr>
          <p:cNvPr id="173" name="Google Shape;173;p24"/>
          <p:cNvSpPr txBox="1"/>
          <p:nvPr/>
        </p:nvSpPr>
        <p:spPr>
          <a:xfrm>
            <a:off x="2768665" y="3711875"/>
            <a:ext cx="5473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rgbClr val="2B3640"/>
                </a:solidFill>
                <a:latin typeface="Nunito"/>
                <a:ea typeface="Nunito"/>
                <a:cs typeface="Nunito"/>
                <a:sym typeface="Nunito"/>
              </a:rPr>
              <a:t>Qualitative Insights: </a:t>
            </a:r>
            <a:r>
              <a:rPr lang="en" sz="1500">
                <a:solidFill>
                  <a:srgbClr val="2B3640"/>
                </a:solidFill>
                <a:latin typeface="Nunito"/>
                <a:ea typeface="Nunito"/>
                <a:cs typeface="Nunito"/>
                <a:sym typeface="Nunito"/>
              </a:rPr>
              <a:t>A formal process for gathering patient experience stories to complement the numbers.</a:t>
            </a:r>
            <a:endParaRPr sz="1500">
              <a:solidFill>
                <a:srgbClr val="2B3640"/>
              </a:solidFill>
              <a:latin typeface="Nunito"/>
              <a:ea typeface="Nunito"/>
              <a:cs typeface="Nunito"/>
              <a:sym typeface="Nunito"/>
            </a:endParaRPr>
          </a:p>
        </p:txBody>
      </p:sp>
      <p:pic>
        <p:nvPicPr>
          <p:cNvPr id="174" name="Google Shape;174;p24"/>
          <p:cNvPicPr preferRelativeResize="0"/>
          <p:nvPr/>
        </p:nvPicPr>
        <p:blipFill>
          <a:blip r:embed="rId3">
            <a:alphaModFix/>
          </a:blip>
          <a:stretch>
            <a:fillRect/>
          </a:stretch>
        </p:blipFill>
        <p:spPr>
          <a:xfrm>
            <a:off x="738225" y="2028550"/>
            <a:ext cx="1535700" cy="1584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0EB"/>
        </a:solidFill>
      </p:bgPr>
    </p:bg>
    <p:spTree>
      <p:nvGrpSpPr>
        <p:cNvPr id="178" name="Shape 178"/>
        <p:cNvGrpSpPr/>
        <p:nvPr/>
      </p:nvGrpSpPr>
      <p:grpSpPr>
        <a:xfrm>
          <a:off x="0" y="0"/>
          <a:ext cx="0" cy="0"/>
          <a:chOff x="0" y="0"/>
          <a:chExt cx="0" cy="0"/>
        </a:xfrm>
      </p:grpSpPr>
      <p:sp>
        <p:nvSpPr>
          <p:cNvPr id="179" name="Google Shape;179;p25"/>
          <p:cNvSpPr txBox="1"/>
          <p:nvPr>
            <p:ph type="title"/>
          </p:nvPr>
        </p:nvSpPr>
        <p:spPr>
          <a:xfrm>
            <a:off x="454750" y="334650"/>
            <a:ext cx="5443800" cy="19884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b="1" lang="en" sz="5000">
                <a:solidFill>
                  <a:srgbClr val="2B3640"/>
                </a:solidFill>
                <a:latin typeface="Nunito"/>
                <a:ea typeface="Nunito"/>
                <a:cs typeface="Nunito"/>
                <a:sym typeface="Nunito"/>
              </a:rPr>
              <a:t>Every pregnancy </a:t>
            </a:r>
            <a:endParaRPr b="1" sz="5000">
              <a:solidFill>
                <a:srgbClr val="2B3640"/>
              </a:solidFill>
              <a:latin typeface="Nunito"/>
              <a:ea typeface="Nunito"/>
              <a:cs typeface="Nunito"/>
              <a:sym typeface="Nunito"/>
            </a:endParaRPr>
          </a:p>
          <a:p>
            <a:pPr indent="0" lvl="0" marL="0" rtl="0" algn="l">
              <a:lnSpc>
                <a:spcPct val="90000"/>
              </a:lnSpc>
              <a:spcBef>
                <a:spcPts val="0"/>
              </a:spcBef>
              <a:spcAft>
                <a:spcPts val="0"/>
              </a:spcAft>
              <a:buNone/>
            </a:pPr>
            <a:r>
              <a:rPr b="1" lang="en" sz="5000">
                <a:solidFill>
                  <a:srgbClr val="2B3640"/>
                </a:solidFill>
                <a:latin typeface="Nunito"/>
                <a:ea typeface="Nunito"/>
                <a:cs typeface="Nunito"/>
                <a:sym typeface="Nunito"/>
              </a:rPr>
              <a:t>should have a </a:t>
            </a:r>
            <a:endParaRPr b="1" sz="5000">
              <a:solidFill>
                <a:srgbClr val="2B3640"/>
              </a:solidFill>
              <a:latin typeface="Nunito"/>
              <a:ea typeface="Nunito"/>
              <a:cs typeface="Nunito"/>
              <a:sym typeface="Nunito"/>
            </a:endParaRPr>
          </a:p>
          <a:p>
            <a:pPr indent="0" lvl="0" marL="0" rtl="0" algn="l">
              <a:lnSpc>
                <a:spcPct val="90000"/>
              </a:lnSpc>
              <a:spcBef>
                <a:spcPts val="0"/>
              </a:spcBef>
              <a:spcAft>
                <a:spcPts val="0"/>
              </a:spcAft>
              <a:buNone/>
            </a:pPr>
            <a:r>
              <a:rPr b="1" lang="en" sz="5000">
                <a:solidFill>
                  <a:srgbClr val="2B3640"/>
                </a:solidFill>
                <a:latin typeface="Nunito"/>
                <a:ea typeface="Nunito"/>
                <a:cs typeface="Nunito"/>
                <a:sym typeface="Nunito"/>
              </a:rPr>
              <a:t>healthy outcome.</a:t>
            </a:r>
            <a:endParaRPr b="1" sz="5000">
              <a:solidFill>
                <a:srgbClr val="2B3640"/>
              </a:solidFill>
              <a:latin typeface="Nunito"/>
              <a:ea typeface="Nunito"/>
              <a:cs typeface="Nunito"/>
              <a:sym typeface="Nunito"/>
            </a:endParaRPr>
          </a:p>
        </p:txBody>
      </p:sp>
      <p:sp>
        <p:nvSpPr>
          <p:cNvPr id="180" name="Google Shape;180;p25"/>
          <p:cNvSpPr txBox="1"/>
          <p:nvPr/>
        </p:nvSpPr>
        <p:spPr>
          <a:xfrm>
            <a:off x="558875" y="2794525"/>
            <a:ext cx="5588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Nunito SemiBold"/>
                <a:ea typeface="Nunito SemiBold"/>
                <a:cs typeface="Nunito SemiBold"/>
                <a:sym typeface="Nunito SemiBold"/>
              </a:rPr>
              <a:t>Discussion &amp; Questions</a:t>
            </a:r>
            <a:endParaRPr sz="2300">
              <a:latin typeface="Nunito SemiBold"/>
              <a:ea typeface="Nunito SemiBold"/>
              <a:cs typeface="Nunito SemiBold"/>
              <a:sym typeface="Nunito SemiBold"/>
            </a:endParaRPr>
          </a:p>
        </p:txBody>
      </p:sp>
      <p:cxnSp>
        <p:nvCxnSpPr>
          <p:cNvPr id="181" name="Google Shape;181;p25"/>
          <p:cNvCxnSpPr/>
          <p:nvPr/>
        </p:nvCxnSpPr>
        <p:spPr>
          <a:xfrm>
            <a:off x="558875" y="2578900"/>
            <a:ext cx="5541600" cy="20100"/>
          </a:xfrm>
          <a:prstGeom prst="straightConnector1">
            <a:avLst/>
          </a:prstGeom>
          <a:noFill/>
          <a:ln cap="flat" cmpd="sng" w="38100">
            <a:solidFill>
              <a:srgbClr val="62799E"/>
            </a:solidFill>
            <a:prstDash val="solid"/>
            <a:round/>
            <a:headEnd len="med" w="med" type="none"/>
            <a:tailEnd len="med" w="med" type="none"/>
          </a:ln>
        </p:spPr>
      </p:cxnSp>
      <p:sp>
        <p:nvSpPr>
          <p:cNvPr id="182" name="Google Shape;182;p25"/>
          <p:cNvSpPr/>
          <p:nvPr/>
        </p:nvSpPr>
        <p:spPr>
          <a:xfrm>
            <a:off x="6322700" y="75"/>
            <a:ext cx="2821200" cy="5143500"/>
          </a:xfrm>
          <a:prstGeom prst="rect">
            <a:avLst/>
          </a:prstGeom>
          <a:solidFill>
            <a:srgbClr val="F8F7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5"/>
          <p:cNvSpPr txBox="1"/>
          <p:nvPr/>
        </p:nvSpPr>
        <p:spPr>
          <a:xfrm>
            <a:off x="650650" y="3434325"/>
            <a:ext cx="55887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Nunito SemiBold"/>
                <a:ea typeface="Nunito SemiBold"/>
                <a:cs typeface="Nunito SemiBold"/>
                <a:sym typeface="Nunito SemiBold"/>
              </a:rPr>
              <a:t>Thank You</a:t>
            </a:r>
            <a:endParaRPr sz="2300">
              <a:latin typeface="Nunito SemiBold"/>
              <a:ea typeface="Nunito SemiBold"/>
              <a:cs typeface="Nunito SemiBold"/>
              <a:sym typeface="Nunito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87" name="Shape 187"/>
        <p:cNvGrpSpPr/>
        <p:nvPr/>
      </p:nvGrpSpPr>
      <p:grpSpPr>
        <a:xfrm>
          <a:off x="0" y="0"/>
          <a:ext cx="0" cy="0"/>
          <a:chOff x="0" y="0"/>
          <a:chExt cx="0" cy="0"/>
        </a:xfrm>
      </p:grpSpPr>
      <p:sp>
        <p:nvSpPr>
          <p:cNvPr id="188" name="Google Shape;188;p26"/>
          <p:cNvSpPr txBox="1"/>
          <p:nvPr/>
        </p:nvSpPr>
        <p:spPr>
          <a:xfrm>
            <a:off x="999900" y="1905550"/>
            <a:ext cx="71442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2B3640"/>
                </a:solidFill>
                <a:latin typeface="Nunito"/>
                <a:ea typeface="Nunito"/>
                <a:cs typeface="Nunito"/>
                <a:sym typeface="Nunito"/>
              </a:rPr>
              <a:t>1. Centers for Disease Control and Prevention. (2023). User guide to the 2023 fetal death public use file. https://ftp.cdc.gov/pub/Health_Statistics/NCHS/Dataset_Documentation/DVS/fetaldeath/2023fetaluserguide.pdf</a:t>
            </a:r>
            <a:endParaRPr sz="1500">
              <a:solidFill>
                <a:srgbClr val="2B3640"/>
              </a:solidFill>
              <a:latin typeface="Nunito"/>
              <a:ea typeface="Nunito"/>
              <a:cs typeface="Nunito"/>
              <a:sym typeface="Nunito"/>
            </a:endParaRPr>
          </a:p>
          <a:p>
            <a:pPr indent="0" lvl="0" marL="0" rtl="0" algn="l">
              <a:spcBef>
                <a:spcPts val="0"/>
              </a:spcBef>
              <a:spcAft>
                <a:spcPts val="0"/>
              </a:spcAft>
              <a:buNone/>
            </a:pPr>
            <a:r>
              <a:t/>
            </a:r>
            <a:endParaRPr sz="1500">
              <a:solidFill>
                <a:srgbClr val="2B3640"/>
              </a:solidFill>
              <a:latin typeface="Nunito"/>
              <a:ea typeface="Nunito"/>
              <a:cs typeface="Nunito"/>
              <a:sym typeface="Nunito"/>
            </a:endParaRPr>
          </a:p>
          <a:p>
            <a:pPr indent="0" lvl="0" marL="0" rtl="0" algn="l">
              <a:spcBef>
                <a:spcPts val="0"/>
              </a:spcBef>
              <a:spcAft>
                <a:spcPts val="0"/>
              </a:spcAft>
              <a:buNone/>
            </a:pPr>
            <a:r>
              <a:rPr lang="en" sz="1500">
                <a:solidFill>
                  <a:srgbClr val="2B3640"/>
                </a:solidFill>
                <a:latin typeface="Nunito"/>
                <a:ea typeface="Nunito"/>
                <a:cs typeface="Nunito"/>
                <a:sym typeface="Nunito"/>
              </a:rPr>
              <a:t>2. MacDorman, M. F., &amp; Gregory, E. C. W. (2015, July 23). Fetal and perinatal mortality: United States, 2013 (National Center for Health Statistics. Vital and Health Statistics, 64[8], 1–24). https://stacks.cdc.gov/view/cdc/231851</a:t>
            </a:r>
            <a:endParaRPr sz="1500">
              <a:solidFill>
                <a:srgbClr val="2B3640"/>
              </a:solidFill>
              <a:latin typeface="Nunito"/>
              <a:ea typeface="Nunito"/>
              <a:cs typeface="Nunito"/>
              <a:sym typeface="Nunito"/>
            </a:endParaRPr>
          </a:p>
        </p:txBody>
      </p:sp>
      <p:sp>
        <p:nvSpPr>
          <p:cNvPr id="189" name="Google Shape;189;p26"/>
          <p:cNvSpPr txBox="1"/>
          <p:nvPr>
            <p:ph type="title"/>
          </p:nvPr>
        </p:nvSpPr>
        <p:spPr>
          <a:xfrm>
            <a:off x="311700" y="220225"/>
            <a:ext cx="8520600" cy="13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100">
                <a:solidFill>
                  <a:srgbClr val="2B3640"/>
                </a:solidFill>
                <a:latin typeface="Nunito"/>
                <a:ea typeface="Nunito"/>
                <a:cs typeface="Nunito"/>
                <a:sym typeface="Nunito"/>
              </a:rPr>
              <a:t>Reference</a:t>
            </a:r>
            <a:endParaRPr b="1" sz="3100">
              <a:solidFill>
                <a:srgbClr val="2B3640"/>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93" name="Shape 193"/>
        <p:cNvGrpSpPr/>
        <p:nvPr/>
      </p:nvGrpSpPr>
      <p:grpSpPr>
        <a:xfrm>
          <a:off x="0" y="0"/>
          <a:ext cx="0" cy="0"/>
          <a:chOff x="0" y="0"/>
          <a:chExt cx="0" cy="0"/>
        </a:xfrm>
      </p:grpSpPr>
      <p:pic>
        <p:nvPicPr>
          <p:cNvPr id="194" name="Google Shape;194;p27"/>
          <p:cNvPicPr preferRelativeResize="0"/>
          <p:nvPr/>
        </p:nvPicPr>
        <p:blipFill>
          <a:blip r:embed="rId3">
            <a:alphaModFix/>
          </a:blip>
          <a:stretch>
            <a:fillRect/>
          </a:stretch>
        </p:blipFill>
        <p:spPr>
          <a:xfrm>
            <a:off x="1552950" y="192800"/>
            <a:ext cx="5946852"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98" name="Shape 198"/>
        <p:cNvGrpSpPr/>
        <p:nvPr/>
      </p:nvGrpSpPr>
      <p:grpSpPr>
        <a:xfrm>
          <a:off x="0" y="0"/>
          <a:ext cx="0" cy="0"/>
          <a:chOff x="0" y="0"/>
          <a:chExt cx="0" cy="0"/>
        </a:xfrm>
      </p:grpSpPr>
      <p:pic>
        <p:nvPicPr>
          <p:cNvPr id="199" name="Google Shape;199;p28"/>
          <p:cNvPicPr preferRelativeResize="0"/>
          <p:nvPr/>
        </p:nvPicPr>
        <p:blipFill>
          <a:blip r:embed="rId3">
            <a:alphaModFix/>
          </a:blip>
          <a:stretch>
            <a:fillRect/>
          </a:stretch>
        </p:blipFill>
        <p:spPr>
          <a:xfrm>
            <a:off x="1062038" y="394800"/>
            <a:ext cx="7019925" cy="1676400"/>
          </a:xfrm>
          <a:prstGeom prst="rect">
            <a:avLst/>
          </a:prstGeom>
          <a:noFill/>
          <a:ln>
            <a:noFill/>
          </a:ln>
        </p:spPr>
      </p:pic>
      <p:pic>
        <p:nvPicPr>
          <p:cNvPr id="200" name="Google Shape;200;p28"/>
          <p:cNvPicPr preferRelativeResize="0"/>
          <p:nvPr/>
        </p:nvPicPr>
        <p:blipFill>
          <a:blip r:embed="rId4">
            <a:alphaModFix/>
          </a:blip>
          <a:stretch>
            <a:fillRect/>
          </a:stretch>
        </p:blipFill>
        <p:spPr>
          <a:xfrm>
            <a:off x="1112638" y="2210125"/>
            <a:ext cx="6918751" cy="2767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04" name="Shape 204"/>
        <p:cNvGrpSpPr/>
        <p:nvPr/>
      </p:nvGrpSpPr>
      <p:grpSpPr>
        <a:xfrm>
          <a:off x="0" y="0"/>
          <a:ext cx="0" cy="0"/>
          <a:chOff x="0" y="0"/>
          <a:chExt cx="0" cy="0"/>
        </a:xfrm>
      </p:grpSpPr>
      <p:pic>
        <p:nvPicPr>
          <p:cNvPr id="205" name="Google Shape;205;p29"/>
          <p:cNvPicPr preferRelativeResize="0"/>
          <p:nvPr/>
        </p:nvPicPr>
        <p:blipFill>
          <a:blip r:embed="rId3">
            <a:alphaModFix/>
          </a:blip>
          <a:stretch>
            <a:fillRect/>
          </a:stretch>
        </p:blipFill>
        <p:spPr>
          <a:xfrm>
            <a:off x="314000" y="1108550"/>
            <a:ext cx="8248650" cy="2562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09" name="Shape 209"/>
        <p:cNvGrpSpPr/>
        <p:nvPr/>
      </p:nvGrpSpPr>
      <p:grpSpPr>
        <a:xfrm>
          <a:off x="0" y="0"/>
          <a:ext cx="0" cy="0"/>
          <a:chOff x="0" y="0"/>
          <a:chExt cx="0" cy="0"/>
        </a:xfrm>
      </p:grpSpPr>
      <p:pic>
        <p:nvPicPr>
          <p:cNvPr id="210" name="Google Shape;210;p30"/>
          <p:cNvPicPr preferRelativeResize="0"/>
          <p:nvPr/>
        </p:nvPicPr>
        <p:blipFill>
          <a:blip r:embed="rId3">
            <a:alphaModFix/>
          </a:blip>
          <a:stretch>
            <a:fillRect/>
          </a:stretch>
        </p:blipFill>
        <p:spPr>
          <a:xfrm>
            <a:off x="1383825" y="226475"/>
            <a:ext cx="6376362" cy="48386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14" name="Shape 214"/>
        <p:cNvGrpSpPr/>
        <p:nvPr/>
      </p:nvGrpSpPr>
      <p:grpSpPr>
        <a:xfrm>
          <a:off x="0" y="0"/>
          <a:ext cx="0" cy="0"/>
          <a:chOff x="0" y="0"/>
          <a:chExt cx="0" cy="0"/>
        </a:xfrm>
      </p:grpSpPr>
      <p:pic>
        <p:nvPicPr>
          <p:cNvPr id="215" name="Google Shape;215;p31"/>
          <p:cNvPicPr preferRelativeResize="0"/>
          <p:nvPr/>
        </p:nvPicPr>
        <p:blipFill>
          <a:blip r:embed="rId3">
            <a:alphaModFix/>
          </a:blip>
          <a:stretch>
            <a:fillRect/>
          </a:stretch>
        </p:blipFill>
        <p:spPr>
          <a:xfrm>
            <a:off x="152400" y="152400"/>
            <a:ext cx="7372350" cy="2314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19" name="Shape 219"/>
        <p:cNvGrpSpPr/>
        <p:nvPr/>
      </p:nvGrpSpPr>
      <p:grpSpPr>
        <a:xfrm>
          <a:off x="0" y="0"/>
          <a:ext cx="0" cy="0"/>
          <a:chOff x="0" y="0"/>
          <a:chExt cx="0" cy="0"/>
        </a:xfrm>
      </p:grpSpPr>
      <p:pic>
        <p:nvPicPr>
          <p:cNvPr id="220" name="Google Shape;220;p32"/>
          <p:cNvPicPr preferRelativeResize="0"/>
          <p:nvPr/>
        </p:nvPicPr>
        <p:blipFill>
          <a:blip r:embed="rId3">
            <a:alphaModFix/>
          </a:blip>
          <a:stretch>
            <a:fillRect/>
          </a:stretch>
        </p:blipFill>
        <p:spPr>
          <a:xfrm>
            <a:off x="1310550" y="118725"/>
            <a:ext cx="6654254"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24" name="Shape 224"/>
        <p:cNvGrpSpPr/>
        <p:nvPr/>
      </p:nvGrpSpPr>
      <p:grpSpPr>
        <a:xfrm>
          <a:off x="0" y="0"/>
          <a:ext cx="0" cy="0"/>
          <a:chOff x="0" y="0"/>
          <a:chExt cx="0" cy="0"/>
        </a:xfrm>
      </p:grpSpPr>
      <p:pic>
        <p:nvPicPr>
          <p:cNvPr id="225" name="Google Shape;225;p33"/>
          <p:cNvPicPr preferRelativeResize="0"/>
          <p:nvPr/>
        </p:nvPicPr>
        <p:blipFill>
          <a:blip r:embed="rId3">
            <a:alphaModFix/>
          </a:blip>
          <a:stretch>
            <a:fillRect/>
          </a:stretch>
        </p:blipFill>
        <p:spPr>
          <a:xfrm>
            <a:off x="792075" y="990600"/>
            <a:ext cx="7753350" cy="3162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29" name="Shape 229"/>
        <p:cNvGrpSpPr/>
        <p:nvPr/>
      </p:nvGrpSpPr>
      <p:grpSpPr>
        <a:xfrm>
          <a:off x="0" y="0"/>
          <a:ext cx="0" cy="0"/>
          <a:chOff x="0" y="0"/>
          <a:chExt cx="0" cy="0"/>
        </a:xfrm>
      </p:grpSpPr>
      <p:pic>
        <p:nvPicPr>
          <p:cNvPr id="230" name="Google Shape;230;p34"/>
          <p:cNvPicPr preferRelativeResize="0"/>
          <p:nvPr/>
        </p:nvPicPr>
        <p:blipFill>
          <a:blip r:embed="rId3">
            <a:alphaModFix/>
          </a:blip>
          <a:stretch>
            <a:fillRect/>
          </a:stretch>
        </p:blipFill>
        <p:spPr>
          <a:xfrm>
            <a:off x="3135300" y="199525"/>
            <a:ext cx="3342953" cy="4838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35"/>
          <p:cNvSpPr txBox="1"/>
          <p:nvPr>
            <p:ph type="title"/>
          </p:nvPr>
        </p:nvSpPr>
        <p:spPr>
          <a:xfrm>
            <a:off x="311700" y="0"/>
            <a:ext cx="8520600" cy="2094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solidFill>
                  <a:srgbClr val="2B3640"/>
                </a:solidFill>
                <a:latin typeface="Nunito"/>
                <a:ea typeface="Nunito"/>
                <a:cs typeface="Nunito"/>
                <a:sym typeface="Nunito"/>
              </a:rPr>
              <a:t>Every Beginning Matters:</a:t>
            </a:r>
            <a:endParaRPr b="1">
              <a:solidFill>
                <a:srgbClr val="2B3640"/>
              </a:solidFill>
              <a:latin typeface="Nunito"/>
              <a:ea typeface="Nunito"/>
              <a:cs typeface="Nunito"/>
              <a:sym typeface="Nunito"/>
            </a:endParaRPr>
          </a:p>
          <a:p>
            <a:pPr indent="0" lvl="0" marL="0" rtl="0" algn="ctr">
              <a:spcBef>
                <a:spcPts val="0"/>
              </a:spcBef>
              <a:spcAft>
                <a:spcPts val="0"/>
              </a:spcAft>
              <a:buNone/>
            </a:pPr>
            <a:r>
              <a:rPr b="1" lang="en">
                <a:solidFill>
                  <a:srgbClr val="2B3640"/>
                </a:solidFill>
                <a:latin typeface="Nunito"/>
                <a:ea typeface="Nunito"/>
                <a:cs typeface="Nunito"/>
                <a:sym typeface="Nunito"/>
              </a:rPr>
              <a:t>Fetal Mortality in St. Louis County, 2019-2023</a:t>
            </a:r>
            <a:endParaRPr b="1">
              <a:solidFill>
                <a:srgbClr val="2B3640"/>
              </a:solidFill>
              <a:latin typeface="Nunito"/>
              <a:ea typeface="Nunito"/>
              <a:cs typeface="Nunito"/>
              <a:sym typeface="Nunito"/>
            </a:endParaRPr>
          </a:p>
        </p:txBody>
      </p:sp>
      <p:sp>
        <p:nvSpPr>
          <p:cNvPr id="236" name="Google Shape;236;p35"/>
          <p:cNvSpPr txBox="1"/>
          <p:nvPr>
            <p:ph idx="4294967295" type="subTitle"/>
          </p:nvPr>
        </p:nvSpPr>
        <p:spPr>
          <a:xfrm>
            <a:off x="311700" y="4350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Presented to Community Action Team (CAT) Meeting</a:t>
            </a:r>
            <a:endParaRPr/>
          </a:p>
        </p:txBody>
      </p:sp>
      <p:sp>
        <p:nvSpPr>
          <p:cNvPr id="237" name="Google Shape;237;p35"/>
          <p:cNvSpPr txBox="1"/>
          <p:nvPr/>
        </p:nvSpPr>
        <p:spPr>
          <a:xfrm>
            <a:off x="7517700" y="4620300"/>
            <a:ext cx="162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2B3640"/>
                </a:solidFill>
                <a:latin typeface="Nunito"/>
                <a:ea typeface="Nunito"/>
                <a:cs typeface="Nunito"/>
                <a:sym typeface="Nunito"/>
              </a:rPr>
              <a:t>Michael Royce Tan</a:t>
            </a:r>
            <a:br>
              <a:rPr lang="en" sz="1100">
                <a:solidFill>
                  <a:srgbClr val="2B3640"/>
                </a:solidFill>
                <a:latin typeface="Nunito"/>
                <a:ea typeface="Nunito"/>
                <a:cs typeface="Nunito"/>
                <a:sym typeface="Nunito"/>
              </a:rPr>
            </a:br>
            <a:r>
              <a:rPr lang="en" sz="1100">
                <a:solidFill>
                  <a:srgbClr val="2B3640"/>
                </a:solidFill>
                <a:latin typeface="Nunito"/>
                <a:ea typeface="Nunito"/>
                <a:cs typeface="Nunito"/>
                <a:sym typeface="Nunito"/>
              </a:rPr>
              <a:t>December 9, 2025</a:t>
            </a:r>
            <a:endParaRPr sz="1100">
              <a:solidFill>
                <a:srgbClr val="2B3640"/>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